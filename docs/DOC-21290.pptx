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463040"/>
            <a:ext cx="7680960" cy="2011680"/>
          </a:xfrm>
          <a:prstGeom prst="rect">
            <a:avLst/>
          </a:prstGeom>
          <a:noFill/>
        </p:spPr>
        <p:txBody>
          <a:bodyPr wrap="square">
            <a:spAutoFit/>
          </a:bodyPr>
          <a:lstStyle/>
          <a:p>
            <a:pPr>
              <a:defRPr sz="2800" b="1">
                <a:solidFill>
                  <a:srgbClr val="2C5AA0"/>
                </a:solidFill>
              </a:defRPr>
            </a:pPr>
            <a:r>
              <a:t>入金消込基盤 アーキテクチャ概要レビュー資料</a:t>
            </a:r>
          </a:p>
          <a:p>
            <a:pPr>
              <a:defRPr sz="1600"/>
            </a:pPr>
            <a:r>
              <a:t>入金明細取込から消込結果記録までの連携方式確認 (S-2024-118)</a:t>
            </a:r>
          </a:p>
          <a:p>
            <a:pPr>
              <a:defRPr sz="1200"/>
            </a:pPr>
            <a:r>
              <a:t>みらいカード 債権管理システム 入金消込基盤</a:t>
            </a:r>
          </a:p>
          <a:p>
            <a:pPr>
              <a:defRPr sz="1200"/>
            </a:pPr>
            <a:r>
              <a:t>方式設計レビュー</a:t>
            </a:r>
          </a:p>
          <a:p>
            <a:pPr>
              <a:defRPr sz="1200"/>
            </a:pPr>
            <a:r>
              <a:t>発表: 小野寺 彩 (MC-214)</a:t>
            </a:r>
          </a:p>
          <a:p>
            <a:pPr>
              <a:defRPr sz="1200"/>
            </a:pPr>
            <a:r>
              <a:t>令和6年11月18日</a:t>
            </a:r>
          </a:p>
        </p:txBody>
      </p:sp>
      <p:sp>
        <p:nvSpPr>
          <p:cNvPr id="3" name="TextBox 2"/>
          <p:cNvSpPr txBox="1"/>
          <p:nvPr/>
        </p:nvSpPr>
        <p:spPr>
          <a:xfrm>
            <a:off x="6949440" y="274320"/>
            <a:ext cx="1828800" cy="457200"/>
          </a:xfrm>
          <a:prstGeom prst="rect">
            <a:avLst/>
          </a:prstGeom>
          <a:noFill/>
        </p:spPr>
        <p:txBody>
          <a:bodyPr wrap="none">
            <a:spAutoFit/>
          </a:bodyPr>
          <a:lstStyle/>
          <a:p>
            <a:pPr algn="r">
              <a:defRPr sz="1200">
                <a:solidFill>
                  <a:srgbClr val="C0392B"/>
                </a:solidFill>
              </a:defRPr>
            </a:pPr>
            <a:r>
              <a:t>社外秘 / v1.2 (レビュー用)</a:t>
            </a:r>
          </a:p>
        </p:txBody>
      </p:sp>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(レビュー用)    社外秘    1 /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200" b="1">
                <a:solidFill>
                  <a:srgbClr val="2C5AA0"/>
                </a:solidFill>
              </a:defRPr>
            </a:pPr>
            <a:r>
              <a:t>アジェンダ</a:t>
            </a:r>
          </a:p>
        </p:txBody>
      </p:sp>
      <p:sp>
        <p:nvSpPr>
          <p:cNvPr id="3" name="TextBox 2"/>
          <p:cNvSpPr txBox="1"/>
          <p:nvPr/>
        </p:nvSpPr>
        <p:spPr>
          <a:xfrm>
            <a:off x="640080" y="1188720"/>
            <a:ext cx="7863840" cy="3657600"/>
          </a:xfrm>
          <a:prstGeom prst="rect">
            <a:avLst/>
          </a:prstGeom>
          <a:noFill/>
        </p:spPr>
        <p:txBody>
          <a:bodyPr wrap="square">
            <a:spAutoFit/>
          </a:bodyPr>
          <a:lstStyle/>
          <a:p>
            <a:pPr>
              <a:defRPr sz="1600"/>
            </a:pPr>
            <a:r>
              <a:t>・1. レビュー目的・観点</a:t>
            </a:r>
          </a:p>
          <a:p>
            <a:pPr>
              <a:defRPr sz="1600"/>
            </a:pPr>
            <a:r>
              <a:t>・2. 入金消込基盤の全体アーキテクチャ</a:t>
            </a:r>
          </a:p>
          <a:p>
            <a:pPr>
              <a:defRPr sz="1600"/>
            </a:pPr>
            <a:r>
              <a:t>・3. CDPAYF・CDOSF・CDAPPF の参照／更新連携</a:t>
            </a:r>
          </a:p>
          <a:p>
            <a:pPr>
              <a:defRPr sz="1600"/>
            </a:pPr>
            <a:r>
              <a:t>・4. 指摘事項一覧</a:t>
            </a:r>
          </a:p>
          <a:p>
            <a:pPr>
              <a:defRPr sz="1600"/>
            </a:pPr>
            <a:r>
              <a:t>・5. 残課題・次のステップ</a:t>
            </a:r>
          </a:p>
        </p:txBody>
      </p:sp>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(レビュー用)    社外秘    2 / 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000" b="1">
                <a:solidFill>
                  <a:srgbClr val="2C5AA0"/>
                </a:solidFill>
              </a:defRPr>
            </a:pPr>
            <a:r>
              <a:t>設計概要 — 処理フロー (図1)</a:t>
            </a:r>
          </a:p>
        </p:txBody>
      </p:sp>
      <p:sp>
        <p:nvSpPr>
          <p:cNvPr id="3" name="Rectangle 2"/>
          <p:cNvSpPr/>
          <p:nvPr/>
        </p:nvSpPr>
        <p:spPr>
          <a:xfrm>
            <a:off x="36576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NyukinKeshikomiService 入金消込起動</a:t>
            </a:r>
          </a:p>
        </p:txBody>
      </p:sp>
      <p:sp>
        <p:nvSpPr>
          <p:cNvPr id="4" name="Rectangle 3"/>
          <p:cNvSpPr/>
          <p:nvPr/>
        </p:nvSpPr>
        <p:spPr>
          <a:xfrm>
            <a:off x="251460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CDPAYF 入金明細</a:t>
            </a:r>
          </a:p>
        </p:txBody>
      </p:sp>
      <p:sp>
        <p:nvSpPr>
          <p:cNvPr id="5" name="Rectangle 4"/>
          <p:cNvSpPr/>
          <p:nvPr/>
        </p:nvSpPr>
        <p:spPr>
          <a:xfrm>
            <a:off x="466344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CB610B 消込エンジン</a:t>
            </a:r>
          </a:p>
        </p:txBody>
      </p:sp>
      <p:sp>
        <p:nvSpPr>
          <p:cNvPr id="6" name="Rectangle 5"/>
          <p:cNvSpPr/>
          <p:nvPr/>
        </p:nvSpPr>
        <p:spPr>
          <a:xfrm>
            <a:off x="6812279"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CDOSF 未収残高(構成別)</a:t>
            </a:r>
          </a:p>
        </p:txBody>
      </p:sp>
      <p:sp>
        <p:nvSpPr>
          <p:cNvPr id="7" name="TextBox 6"/>
          <p:cNvSpPr txBox="1"/>
          <p:nvPr/>
        </p:nvSpPr>
        <p:spPr>
          <a:xfrm>
            <a:off x="457200" y="3108960"/>
            <a:ext cx="8229600" cy="2103120"/>
          </a:xfrm>
          <a:prstGeom prst="rect">
            <a:avLst/>
          </a:prstGeom>
          <a:noFill/>
        </p:spPr>
        <p:txBody>
          <a:bodyPr wrap="square">
            <a:spAutoFit/>
          </a:bodyPr>
          <a:lstStyle/>
          <a:p>
            <a:pPr>
              <a:defRPr sz="1300"/>
            </a:pPr>
            <a:r>
              <a:t>・CB610B は CDPAYF の入金明細を入力として消込処理を実行</a:t>
            </a:r>
          </a:p>
          <a:p>
            <a:pPr>
              <a:defRPr sz="1300"/>
            </a:pPr>
            <a:r>
              <a:t>・未収残高は CDOSF の構成別残高を参照し、消込結果は CDAPPF に記録</a:t>
            </a:r>
          </a:p>
          <a:p>
            <a:pPr>
              <a:defRPr sz="1300"/>
            </a:pPr>
            <a:r>
              <a:t>・構成別残高は手数料・利息・元本の三要素をデータとして保持</a:t>
            </a:r>
          </a:p>
          <a:p>
            <a:pPr>
              <a:defRPr sz="1300"/>
            </a:pPr>
            <a:r>
              <a:t>・充当順序は方式設計の記載対象外とし、CB610B の実装に従う</a:t>
            </a:r>
          </a:p>
        </p:txBody>
      </p:sp>
      <p:sp>
        <p:nvSpPr>
          <p:cNvPr id="8" name="TextBox 7"/>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(レビュー用)    社外秘    3 /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000" b="1">
                <a:solidFill>
                  <a:srgbClr val="2C5AA0"/>
                </a:solidFill>
              </a:defRPr>
            </a:pPr>
            <a:r>
              <a:t>指摘事項一覧</a:t>
            </a:r>
          </a:p>
        </p:txBody>
      </p:sp>
      <p:graphicFrame>
        <p:nvGraphicFramePr>
          <p:cNvPr id="3" name="Table 2"/>
          <p:cNvGraphicFramePr>
            <a:graphicFrameLocks noGrp="1"/>
          </p:cNvGraphicFramePr>
          <p:nvPr/>
        </p:nvGraphicFramePr>
        <p:xfrm>
          <a:off x="274320" y="914400"/>
          <a:ext cx="8595360" cy="2286000"/>
        </p:xfrm>
        <a:graphic>
          <a:graphicData uri="http://schemas.openxmlformats.org/drawingml/2006/table">
            <a:tbl>
              <a:tblPr firstRow="1" bandRow="1">
                <a:tableStyleId>{5C22544A-7EE6-4342-B048-85BDC9FD1C3A}</a:tableStyleId>
              </a:tblPr>
              <a:tblGrid>
                <a:gridCol w="457200"/>
                <a:gridCol w="822960"/>
                <a:gridCol w="3291840"/>
                <a:gridCol w="731520"/>
                <a:gridCol w="1828800"/>
                <a:gridCol w="822960"/>
                <a:gridCol w="640080"/>
              </a:tblGrid>
              <a:tr h="457200">
                <a:tc>
                  <a:txBody>
                    <a:bodyPr/>
                    <a:lstStyle/>
                    <a:p>
                      <a:pPr>
                        <a:defRPr sz="900" b="1"/>
                      </a:pPr>
                      <a:r>
                        <a:t>No.</a:t>
                      </a:r>
                    </a:p>
                  </a:txBody>
                  <a:tcPr>
                    <a:solidFill>
                      <a:srgbClr val="DFE6EF"/>
                    </a:solidFill>
                  </a:tcPr>
                </a:tc>
                <a:tc>
                  <a:txBody>
                    <a:bodyPr/>
                    <a:lstStyle/>
                    <a:p>
                      <a:pPr>
                        <a:defRPr sz="900" b="1"/>
                      </a:pPr>
                      <a:r>
                        <a:t>区分</a:t>
                      </a:r>
                    </a:p>
                  </a:txBody>
                  <a:tcPr>
                    <a:solidFill>
                      <a:srgbClr val="DFE6EF"/>
                    </a:solidFill>
                  </a:tcPr>
                </a:tc>
                <a:tc>
                  <a:txBody>
                    <a:bodyPr/>
                    <a:lstStyle/>
                    <a:p>
                      <a:pPr>
                        <a:defRPr sz="900" b="1"/>
                      </a:pPr>
                      <a:r>
                        <a:t>指摘内容</a:t>
                      </a:r>
                    </a:p>
                  </a:txBody>
                  <a:tcPr>
                    <a:solidFill>
                      <a:srgbClr val="DFE6EF"/>
                    </a:solidFill>
                  </a:tcPr>
                </a:tc>
                <a:tc>
                  <a:txBody>
                    <a:bodyPr/>
                    <a:lstStyle/>
                    <a:p>
                      <a:pPr>
                        <a:defRPr sz="900" b="1"/>
                      </a:pPr>
                      <a:r>
                        <a:t>重要度</a:t>
                      </a:r>
                    </a:p>
                  </a:txBody>
                  <a:tcPr>
                    <a:solidFill>
                      <a:srgbClr val="DFE6EF"/>
                    </a:solidFill>
                  </a:tcPr>
                </a:tc>
                <a:tc>
                  <a:txBody>
                    <a:bodyPr/>
                    <a:lstStyle/>
                    <a:p>
                      <a:pPr>
                        <a:defRPr sz="900" b="1"/>
                      </a:pPr>
                      <a:r>
                        <a:t>対応方針</a:t>
                      </a:r>
                    </a:p>
                  </a:txBody>
                  <a:tcPr>
                    <a:solidFill>
                      <a:srgbClr val="DFE6EF"/>
                    </a:solidFill>
                  </a:tcPr>
                </a:tc>
                <a:tc>
                  <a:txBody>
                    <a:bodyPr/>
                    <a:lstStyle/>
                    <a:p>
                      <a:pPr>
                        <a:defRPr sz="900" b="1"/>
                      </a:pPr>
                      <a:r>
                        <a:t>担当</a:t>
                      </a:r>
                    </a:p>
                  </a:txBody>
                  <a:tcPr>
                    <a:solidFill>
                      <a:srgbClr val="DFE6EF"/>
                    </a:solidFill>
                  </a:tcPr>
                </a:tc>
                <a:tc>
                  <a:txBody>
                    <a:bodyPr/>
                    <a:lstStyle/>
                    <a:p>
                      <a:pPr>
                        <a:defRPr sz="900" b="1"/>
                      </a:pPr>
                      <a:r>
                        <a:t>状態</a:t>
                      </a:r>
                    </a:p>
                  </a:txBody>
                  <a:tcPr>
                    <a:solidFill>
                      <a:srgbClr val="DFE6EF"/>
                    </a:solidFill>
                  </a:tcPr>
                </a:tc>
              </a:tr>
              <a:tr h="457200">
                <a:tc>
                  <a:txBody>
                    <a:bodyPr/>
                    <a:lstStyle/>
                    <a:p>
                      <a:pPr>
                        <a:defRPr sz="800"/>
                      </a:pPr>
                      <a:r>
                        <a:t>1</a:t>
                      </a:r>
                    </a:p>
                  </a:txBody>
                  <a:tcPr/>
                </a:tc>
                <a:tc>
                  <a:txBody>
                    <a:bodyPr/>
                    <a:lstStyle/>
                    <a:p>
                      <a:pPr>
                        <a:defRPr sz="800"/>
                      </a:pPr>
                      <a:r>
                        <a:t>整合性</a:t>
                      </a:r>
                    </a:p>
                  </a:txBody>
                  <a:tcPr/>
                </a:tc>
                <a:tc>
                  <a:txBody>
                    <a:bodyPr/>
                    <a:lstStyle/>
                    <a:p>
                      <a:pPr>
                        <a:defRPr sz="800"/>
                      </a:pPr>
                      <a:r>
                        <a:t>CDPAYF 取込済フラグの更新タイミングが運用手順書と方式設計で一致していない</a:t>
                      </a:r>
                    </a:p>
                  </a:txBody>
                  <a:tcPr/>
                </a:tc>
                <a:tc>
                  <a:txBody>
                    <a:bodyPr/>
                    <a:lstStyle/>
                    <a:p>
                      <a:pPr>
                        <a:defRPr sz="800"/>
                      </a:pPr>
                      <a:r>
                        <a:t>高</a:t>
                      </a:r>
                    </a:p>
                  </a:txBody>
                  <a:tcPr/>
                </a:tc>
                <a:tc>
                  <a:txBody>
                    <a:bodyPr/>
                    <a:lstStyle/>
                    <a:p>
                      <a:pPr>
                        <a:defRPr sz="800"/>
                      </a:pPr>
                      <a:r>
                        <a:t>システム部 入金・債権管理チームで更新タイミングを再確認し、方式設計書へ反映</a:t>
                      </a:r>
                    </a:p>
                  </a:txBody>
                  <a:tcPr/>
                </a:tc>
                <a:tc>
                  <a:txBody>
                    <a:bodyPr/>
                    <a:lstStyle/>
                    <a:p>
                      <a:pPr>
                        <a:defRPr sz="800"/>
                      </a:pPr>
                      <a:r>
                        <a:t>小野寺 彩</a:t>
                      </a:r>
                    </a:p>
                  </a:txBody>
                  <a:tcPr/>
                </a:tc>
                <a:tc>
                  <a:txBody>
                    <a:bodyPr/>
                    <a:lstStyle/>
                    <a:p>
                      <a:pPr>
                        <a:defRPr sz="800">
                          <a:solidFill>
                            <a:srgbClr val="C0392B"/>
                          </a:solidFill>
                        </a:defRPr>
                      </a:pPr>
                      <a:r>
                        <a:t>未対応</a:t>
                      </a:r>
                    </a:p>
                  </a:txBody>
                  <a:tcPr/>
                </a:tc>
              </a:tr>
              <a:tr h="457200">
                <a:tc>
                  <a:txBody>
                    <a:bodyPr/>
                    <a:lstStyle/>
                    <a:p>
                      <a:pPr>
                        <a:defRPr sz="800"/>
                      </a:pPr>
                      <a:r>
                        <a:t>2</a:t>
                      </a:r>
                    </a:p>
                  </a:txBody>
                  <a:tcPr/>
                </a:tc>
                <a:tc>
                  <a:txBody>
                    <a:bodyPr/>
                    <a:lstStyle/>
                    <a:p>
                      <a:pPr>
                        <a:defRPr sz="800"/>
                      </a:pPr>
                      <a:r>
                        <a:t>非機能</a:t>
                      </a:r>
                    </a:p>
                  </a:txBody>
                  <a:tcPr/>
                </a:tc>
                <a:tc>
                  <a:txBody>
                    <a:bodyPr/>
                    <a:lstStyle/>
                    <a:p>
                      <a:pPr>
                        <a:defRPr sz="800"/>
                      </a:pPr>
                      <a:r>
                        <a:t>月初第1営業日の CDPAYF 件数増加時に、CB610B の処理時間見積が令和5年度実績ベースのまま更新されていない</a:t>
                      </a:r>
                    </a:p>
                  </a:txBody>
                  <a:tcPr/>
                </a:tc>
                <a:tc>
                  <a:txBody>
                    <a:bodyPr/>
                    <a:lstStyle/>
                    <a:p>
                      <a:pPr>
                        <a:defRPr sz="800"/>
                      </a:pPr>
                      <a:r>
                        <a:t>中</a:t>
                      </a:r>
                    </a:p>
                  </a:txBody>
                  <a:tcPr/>
                </a:tc>
                <a:tc>
                  <a:txBody>
                    <a:bodyPr/>
                    <a:lstStyle/>
                    <a:p>
                      <a:pPr>
                        <a:defRPr sz="800"/>
                      </a:pPr>
                      <a:r>
                        <a:t>令和6年9月・10月実績を用いて処理時間を再試算</a:t>
                      </a:r>
                    </a:p>
                  </a:txBody>
                  <a:tcPr/>
                </a:tc>
                <a:tc>
                  <a:txBody>
                    <a:bodyPr/>
                    <a:lstStyle/>
                    <a:p>
                      <a:pPr>
                        <a:defRPr sz="800"/>
                      </a:pPr>
                      <a:r>
                        <a:t>松井 健太</a:t>
                      </a:r>
                    </a:p>
                  </a:txBody>
                  <a:tcPr/>
                </a:tc>
                <a:tc>
                  <a:txBody>
                    <a:bodyPr/>
                    <a:lstStyle/>
                    <a:p>
                      <a:pPr>
                        <a:defRPr sz="800"/>
                      </a:pPr>
                      <a:r>
                        <a:t>対応中</a:t>
                      </a:r>
                    </a:p>
                  </a:txBody>
                  <a:tcPr/>
                </a:tc>
              </a:tr>
              <a:tr h="457200">
                <a:tc>
                  <a:txBody>
                    <a:bodyPr/>
                    <a:lstStyle/>
                    <a:p>
                      <a:pPr>
                        <a:defRPr sz="800"/>
                      </a:pPr>
                      <a:r>
                        <a:t>3</a:t>
                      </a:r>
                    </a:p>
                  </a:txBody>
                  <a:tcPr/>
                </a:tc>
                <a:tc>
                  <a:txBody>
                    <a:bodyPr/>
                    <a:lstStyle/>
                    <a:p>
                      <a:pPr>
                        <a:defRPr sz="800"/>
                      </a:pPr>
                      <a:r>
                        <a:t>運用</a:t>
                      </a:r>
                    </a:p>
                  </a:txBody>
                  <a:tcPr/>
                </a:tc>
                <a:tc>
                  <a:txBody>
                    <a:bodyPr/>
                    <a:lstStyle/>
                    <a:p>
                      <a:pPr>
                        <a:defRPr sz="800"/>
                      </a:pPr>
                      <a:r>
                        <a:t>CDAPPF 書込異常時の再実行単位が入金明細単位か処理日単位か、運用判断基準が本文から読み取れない</a:t>
                      </a:r>
                    </a:p>
                  </a:txBody>
                  <a:tcPr/>
                </a:tc>
                <a:tc>
                  <a:txBody>
                    <a:bodyPr/>
                    <a:lstStyle/>
                    <a:p>
                      <a:pPr>
                        <a:defRPr sz="800"/>
                      </a:pPr>
                      <a:r>
                        <a:t>B</a:t>
                      </a:r>
                    </a:p>
                  </a:txBody>
                  <a:tcPr/>
                </a:tc>
                <a:tc>
                  <a:txBody>
                    <a:bodyPr/>
                    <a:lstStyle/>
                    <a:p>
                      <a:pPr>
                        <a:defRPr sz="800"/>
                      </a:pPr>
                      <a:r>
                        <a:t>債権管理部の再実行承認フローと合わせて追記する</a:t>
                      </a:r>
                    </a:p>
                  </a:txBody>
                  <a:tcPr/>
                </a:tc>
                <a:tc>
                  <a:txBody>
                    <a:bodyPr/>
                    <a:lstStyle/>
                    <a:p>
                      <a:pPr>
                        <a:defRPr sz="800"/>
                      </a:pPr>
                      <a:r>
                        <a:t>青木 里奈</a:t>
                      </a:r>
                    </a:p>
                  </a:txBody>
                  <a:tcPr/>
                </a:tc>
                <a:tc>
                  <a:txBody>
                    <a:bodyPr/>
                    <a:lstStyle/>
                    <a:p>
                      <a:pPr>
                        <a:defRPr sz="800">
                          <a:solidFill>
                            <a:srgbClr val="C0392B"/>
                          </a:solidFill>
                        </a:defRPr>
                      </a:pPr>
                      <a:r>
                        <a:t>未対応</a:t>
                      </a:r>
                    </a:p>
                  </a:txBody>
                  <a:tcPr/>
                </a:tc>
              </a:tr>
              <a:tr h="457200">
                <a:tc>
                  <a:txBody>
                    <a:bodyPr/>
                    <a:lstStyle/>
                    <a:p>
                      <a:pPr>
                        <a:defRPr sz="800"/>
                      </a:pPr>
                      <a:r>
                        <a:t>4</a:t>
                      </a:r>
                    </a:p>
                  </a:txBody>
                  <a:tcPr/>
                </a:tc>
                <a:tc>
                  <a:txBody>
                    <a:bodyPr/>
                    <a:lstStyle/>
                    <a:p>
                      <a:pPr>
                        <a:defRPr sz="800"/>
                      </a:pPr>
                      <a:r>
                        <a:t>保守性</a:t>
                      </a:r>
                    </a:p>
                  </a:txBody>
                  <a:tcPr/>
                </a:tc>
                <a:tc>
                  <a:txBody>
                    <a:bodyPr/>
                    <a:lstStyle/>
                    <a:p>
                      <a:pPr>
                        <a:defRPr sz="800"/>
                      </a:pPr>
                      <a:r>
                        <a:t>未収残高(構成別)の参照項目について、CDOSF の項目名とレビュー資料上の和名対応表が別紙参照のみとなっている</a:t>
                      </a:r>
                    </a:p>
                  </a:txBody>
                  <a:tcPr/>
                </a:tc>
                <a:tc>
                  <a:txBody>
                    <a:bodyPr/>
                    <a:lstStyle/>
                    <a:p>
                      <a:pPr>
                        <a:defRPr sz="800"/>
                      </a:pPr>
                      <a:r>
                        <a:t>中</a:t>
                      </a:r>
                    </a:p>
                  </a:txBody>
                  <a:tcPr/>
                </a:tc>
                <a:tc>
                  <a:txBody>
                    <a:bodyPr/>
                    <a:lstStyle/>
                    <a:p>
                      <a:pPr>
                        <a:defRPr sz="800"/>
                      </a:pPr>
                      <a:r>
                        <a:t>本文に手数料・利息・元本の構成別残高をデータ項目として扱う旨を明記。充当順序は実装に一任とする</a:t>
                      </a:r>
                    </a:p>
                  </a:txBody>
                  <a:tcPr/>
                </a:tc>
                <a:tc>
                  <a:txBody>
                    <a:bodyPr/>
                    <a:lstStyle/>
                    <a:p>
                      <a:pPr>
                        <a:defRPr sz="800"/>
                      </a:pPr>
                      <a:r>
                        <a:t>小野寺 彩</a:t>
                      </a:r>
                    </a:p>
                  </a:txBody>
                  <a:tcPr/>
                </a:tc>
                <a:tc>
                  <a:txBody>
                    <a:bodyPr/>
                    <a:lstStyle/>
                    <a:p>
                      <a:pPr>
                        <a:defRPr sz="800"/>
                      </a:pPr>
                      <a:r>
                        <a:t>対応中</a:t>
                      </a:r>
                    </a:p>
                  </a:txBody>
                  <a:tcPr/>
                </a:tc>
              </a:tr>
            </a:tbl>
          </a:graphicData>
        </a:graphic>
      </p:graphicFrame>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(レビュー用)    社外秘    4 /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