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463040"/>
            <a:ext cx="7680960" cy="2011680"/>
          </a:xfrm>
          <a:prstGeom prst="rect">
            <a:avLst/>
          </a:prstGeom>
          <a:noFill/>
        </p:spPr>
        <p:txBody>
          <a:bodyPr wrap="square">
            <a:spAutoFit/>
          </a:bodyPr>
          <a:lstStyle/>
          <a:p>
            <a:pPr>
              <a:defRPr sz="2800" b="1">
                <a:solidFill>
                  <a:srgbClr val="2C5AA0"/>
                </a:solidFill>
              </a:defRPr>
            </a:pPr>
            <a:r>
              <a:t>建玉管理サブシステム アーキテクチャ概要レビュー資料</a:t>
            </a:r>
          </a:p>
          <a:p>
            <a:pPr>
              <a:defRPr sz="1600"/>
            </a:pPr>
            <a:r>
              <a:t>約定連携から建玉ファイル更新までのCホットパス確認 (ARCH-S14)</a:t>
            </a:r>
          </a:p>
          <a:p>
            <a:pPr>
              <a:defRPr sz="1200"/>
            </a:pPr>
            <a:r>
              <a:t>みらい証券 HFTプラットフォーム 建玉管理</a:t>
            </a:r>
          </a:p>
          <a:p>
            <a:pPr>
              <a:defRPr sz="1200"/>
            </a:pPr>
            <a:r>
              <a:t>アーキテクチャ概要レビュー</a:t>
            </a:r>
          </a:p>
          <a:p>
            <a:pPr>
              <a:defRPr sz="1200"/>
            </a:pPr>
            <a:r>
              <a:t>発表: 森田 健司 (MS-214)</a:t>
            </a:r>
          </a:p>
          <a:p>
            <a:pPr>
              <a:defRPr sz="1200"/>
            </a:pPr>
            <a:r>
              <a:t>令和7年5月22日</a:t>
            </a:r>
          </a:p>
        </p:txBody>
      </p:sp>
      <p:sp>
        <p:nvSpPr>
          <p:cNvPr id="3" name="TextBox 2"/>
          <p:cNvSpPr txBox="1"/>
          <p:nvPr/>
        </p:nvSpPr>
        <p:spPr>
          <a:xfrm>
            <a:off x="6949440" y="274320"/>
            <a:ext cx="1828800" cy="457200"/>
          </a:xfrm>
          <a:prstGeom prst="rect">
            <a:avLst/>
          </a:prstGeom>
          <a:noFill/>
        </p:spPr>
        <p:txBody>
          <a:bodyPr wrap="none">
            <a:spAutoFit/>
          </a:bodyPr>
          <a:lstStyle/>
          <a:p>
            <a:pPr algn="r">
              <a:defRPr sz="1200">
                <a:solidFill>
                  <a:srgbClr val="C0392B"/>
                </a:solidFill>
              </a:defRPr>
            </a:pPr>
            <a:r>
              <a:t>社外秘 / v1.2 (案)</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1 /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200" b="1">
                <a:solidFill>
                  <a:srgbClr val="2C5AA0"/>
                </a:solidFill>
              </a:defRPr>
            </a:pPr>
            <a:r>
              <a:t>アジェンダ</a:t>
            </a:r>
          </a:p>
        </p:txBody>
      </p:sp>
      <p:sp>
        <p:nvSpPr>
          <p:cNvPr id="3" name="TextBox 2"/>
          <p:cNvSpPr txBox="1"/>
          <p:nvPr/>
        </p:nvSpPr>
        <p:spPr>
          <a:xfrm>
            <a:off x="640080" y="1188720"/>
            <a:ext cx="7863840" cy="3657600"/>
          </a:xfrm>
          <a:prstGeom prst="rect">
            <a:avLst/>
          </a:prstGeom>
          <a:noFill/>
        </p:spPr>
        <p:txBody>
          <a:bodyPr wrap="square">
            <a:spAutoFit/>
          </a:bodyPr>
          <a:lstStyle/>
          <a:p>
            <a:pPr>
              <a:defRPr sz="1600"/>
            </a:pPr>
            <a:r>
              <a:t>・1. レビュー目的・観点</a:t>
            </a:r>
          </a:p>
          <a:p>
            <a:pPr>
              <a:defRPr sz="1600"/>
            </a:pPr>
            <a:r>
              <a:t>・2. 建玉管理サブシステムの全体構成</a:t>
            </a:r>
          </a:p>
          <a:p>
            <a:pPr>
              <a:defRPr sz="1600"/>
            </a:pPr>
            <a:r>
              <a:t>・3. 約定(SCEXEC)から建玉更新(mihft_pos)までの連携</a:t>
            </a:r>
          </a:p>
          <a:p>
            <a:pPr>
              <a:defRPr sz="1600"/>
            </a:pPr>
            <a:r>
              <a:t>・4. 非機能・運用上の確認事項</a:t>
            </a:r>
          </a:p>
          <a:p>
            <a:pPr>
              <a:defRPr sz="1600"/>
            </a:pPr>
            <a:r>
              <a:t>・5. 指摘事項一覧</a:t>
            </a:r>
          </a:p>
        </p:txBody>
      </p:sp>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2 /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defRPr sz="2000" b="1">
                <a:solidFill>
                  <a:srgbClr val="2C5AA0"/>
                </a:solidFill>
              </a:defRPr>
            </a:pPr>
            <a:r>
              <a:t>設計概要 — 処理フロー (図1)</a:t>
            </a:r>
          </a:p>
        </p:txBody>
      </p:sp>
      <p:sp>
        <p:nvSpPr>
          <p:cNvPr id="3" name="Rectangle 2"/>
          <p:cNvSpPr/>
          <p:nvPr/>
        </p:nvSpPr>
        <p:spPr>
          <a:xfrm>
            <a:off x="36576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OmsService 注文・約定連携</a:t>
            </a:r>
          </a:p>
        </p:txBody>
      </p:sp>
      <p:sp>
        <p:nvSpPr>
          <p:cNvPr id="4" name="Rectangle 3"/>
          <p:cNvSpPr/>
          <p:nvPr/>
        </p:nvSpPr>
        <p:spPr>
          <a:xfrm>
            <a:off x="251460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SCEXEC 約定データセット</a:t>
            </a:r>
          </a:p>
        </p:txBody>
      </p:sp>
      <p:sp>
        <p:nvSpPr>
          <p:cNvPr id="5" name="Rectangle 4"/>
          <p:cNvSpPr/>
          <p:nvPr/>
        </p:nvSpPr>
        <p:spPr>
          <a:xfrm>
            <a:off x="4663440"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mihft_pos 建玉更新ホットパス</a:t>
            </a:r>
          </a:p>
        </p:txBody>
      </p:sp>
      <p:sp>
        <p:nvSpPr>
          <p:cNvPr id="6" name="Rectangle 5"/>
          <p:cNvSpPr/>
          <p:nvPr/>
        </p:nvSpPr>
        <p:spPr>
          <a:xfrm>
            <a:off x="6812279" y="1828800"/>
            <a:ext cx="1828800" cy="822960"/>
          </a:xfrm>
          <a:prstGeom prst="rect">
            <a:avLst/>
          </a:prstGeom>
          <a:solidFill>
            <a:srgbClr val="DFE6EF"/>
          </a:solidFill>
          <a:ln>
            <a:solidFill>
              <a:srgbClr val="2C5AA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defRPr>
            </a:pPr>
            <a:r>
              <a:t>SCPOSF 建玉ファイル</a:t>
            </a:r>
          </a:p>
        </p:txBody>
      </p:sp>
      <p:sp>
        <p:nvSpPr>
          <p:cNvPr id="7" name="TextBox 6"/>
          <p:cNvSpPr txBox="1"/>
          <p:nvPr/>
        </p:nvSpPr>
        <p:spPr>
          <a:xfrm>
            <a:off x="457200" y="3108960"/>
            <a:ext cx="8229600" cy="2103120"/>
          </a:xfrm>
          <a:prstGeom prst="rect">
            <a:avLst/>
          </a:prstGeom>
          <a:noFill/>
        </p:spPr>
        <p:txBody>
          <a:bodyPr wrap="square">
            <a:spAutoFit/>
          </a:bodyPr>
          <a:lstStyle/>
          <a:p>
            <a:pPr>
              <a:defRPr sz="1300"/>
            </a:pPr>
            <a:r>
              <a:t>・mihft_pos は SCEXEC の約定通知を入力として銘柄・口座別の建玉を更新</a:t>
            </a:r>
          </a:p>
          <a:p>
            <a:pPr>
              <a:defRPr sz="1300"/>
            </a:pPr>
            <a:r>
              <a:t>・更新結果は SCPOSF に反映し、平均取得単価フィールドは実装に従い維持</a:t>
            </a:r>
          </a:p>
          <a:p>
            <a:pPr>
              <a:defRPr sz="1300"/>
            </a:pPr>
            <a:r>
              <a:t>・商品・顧客・カレンダー等の参照情報は SCINSTF、SCCUST、SCCALF を使用</a:t>
            </a:r>
          </a:p>
          <a:p>
            <a:pPr>
              <a:defRPr sz="1300"/>
            </a:pPr>
            <a:r>
              <a:t>・平均取得単価の算定方式そのものは本レビューの対象外</a:t>
            </a:r>
          </a:p>
        </p:txBody>
      </p:sp>
      <p:sp>
        <p:nvSpPr>
          <p:cNvPr id="8" name="TextBox 7"/>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3 /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000" b="1">
                <a:solidFill>
                  <a:srgbClr val="2C5AA0"/>
                </a:solidFill>
              </a:defRPr>
            </a:pPr>
            <a:r>
              <a:t>指摘事項一覧</a:t>
            </a:r>
          </a:p>
        </p:txBody>
      </p:sp>
      <p:graphicFrame>
        <p:nvGraphicFramePr>
          <p:cNvPr id="3" name="Table 2"/>
          <p:cNvGraphicFramePr>
            <a:graphicFrameLocks noGrp="1"/>
          </p:cNvGraphicFramePr>
          <p:nvPr/>
        </p:nvGraphicFramePr>
        <p:xfrm>
          <a:off x="274320" y="914400"/>
          <a:ext cx="8595360" cy="2286000"/>
        </p:xfrm>
        <a:graphic>
          <a:graphicData uri="http://schemas.openxmlformats.org/drawingml/2006/table">
            <a:tbl>
              <a:tblPr firstRow="1" bandRow="1">
                <a:tableStyleId>{5C22544A-7EE6-4342-B048-85BDC9FD1C3A}</a:tableStyleId>
              </a:tblPr>
              <a:tblGrid>
                <a:gridCol w="457200"/>
                <a:gridCol w="822960"/>
                <a:gridCol w="3291840"/>
                <a:gridCol w="731520"/>
                <a:gridCol w="1828800"/>
                <a:gridCol w="822960"/>
                <a:gridCol w="640080"/>
              </a:tblGrid>
              <a:tr h="457200">
                <a:tc>
                  <a:txBody>
                    <a:bodyPr/>
                    <a:lstStyle/>
                    <a:p>
                      <a:pPr>
                        <a:defRPr sz="900" b="1"/>
                      </a:pPr>
                      <a:r>
                        <a:t>No.</a:t>
                      </a:r>
                    </a:p>
                  </a:txBody>
                  <a:tcPr>
                    <a:solidFill>
                      <a:srgbClr val="DFE6EF"/>
                    </a:solidFill>
                  </a:tcPr>
                </a:tc>
                <a:tc>
                  <a:txBody>
                    <a:bodyPr/>
                    <a:lstStyle/>
                    <a:p>
                      <a:pPr>
                        <a:defRPr sz="900" b="1"/>
                      </a:pPr>
                      <a:r>
                        <a:t>区分</a:t>
                      </a:r>
                    </a:p>
                  </a:txBody>
                  <a:tcPr>
                    <a:solidFill>
                      <a:srgbClr val="DFE6EF"/>
                    </a:solidFill>
                  </a:tcPr>
                </a:tc>
                <a:tc>
                  <a:txBody>
                    <a:bodyPr/>
                    <a:lstStyle/>
                    <a:p>
                      <a:pPr>
                        <a:defRPr sz="900" b="1"/>
                      </a:pPr>
                      <a:r>
                        <a:t>指摘内容</a:t>
                      </a:r>
                    </a:p>
                  </a:txBody>
                  <a:tcPr>
                    <a:solidFill>
                      <a:srgbClr val="DFE6EF"/>
                    </a:solidFill>
                  </a:tcPr>
                </a:tc>
                <a:tc>
                  <a:txBody>
                    <a:bodyPr/>
                    <a:lstStyle/>
                    <a:p>
                      <a:pPr>
                        <a:defRPr sz="900" b="1"/>
                      </a:pPr>
                      <a:r>
                        <a:t>重要度</a:t>
                      </a:r>
                    </a:p>
                  </a:txBody>
                  <a:tcPr>
                    <a:solidFill>
                      <a:srgbClr val="DFE6EF"/>
                    </a:solidFill>
                  </a:tcPr>
                </a:tc>
                <a:tc>
                  <a:txBody>
                    <a:bodyPr/>
                    <a:lstStyle/>
                    <a:p>
                      <a:pPr>
                        <a:defRPr sz="900" b="1"/>
                      </a:pPr>
                      <a:r>
                        <a:t>対応方針</a:t>
                      </a:r>
                    </a:p>
                  </a:txBody>
                  <a:tcPr>
                    <a:solidFill>
                      <a:srgbClr val="DFE6EF"/>
                    </a:solidFill>
                  </a:tcPr>
                </a:tc>
                <a:tc>
                  <a:txBody>
                    <a:bodyPr/>
                    <a:lstStyle/>
                    <a:p>
                      <a:pPr>
                        <a:defRPr sz="900" b="1"/>
                      </a:pPr>
                      <a:r>
                        <a:t>担当</a:t>
                      </a:r>
                    </a:p>
                  </a:txBody>
                  <a:tcPr>
                    <a:solidFill>
                      <a:srgbClr val="DFE6EF"/>
                    </a:solidFill>
                  </a:tcPr>
                </a:tc>
                <a:tc>
                  <a:txBody>
                    <a:bodyPr/>
                    <a:lstStyle/>
                    <a:p>
                      <a:pPr>
                        <a:defRPr sz="900" b="1"/>
                      </a:pPr>
                      <a:r>
                        <a:t>状態</a:t>
                      </a:r>
                    </a:p>
                  </a:txBody>
                  <a:tcPr>
                    <a:solidFill>
                      <a:srgbClr val="DFE6EF"/>
                    </a:solidFill>
                  </a:tcPr>
                </a:tc>
              </a:tr>
              <a:tr h="457200">
                <a:tc>
                  <a:txBody>
                    <a:bodyPr/>
                    <a:lstStyle/>
                    <a:p>
                      <a:pPr>
                        <a:defRPr sz="800"/>
                      </a:pPr>
                      <a:r>
                        <a:t>1</a:t>
                      </a:r>
                    </a:p>
                  </a:txBody>
                  <a:tcPr/>
                </a:tc>
                <a:tc>
                  <a:txBody>
                    <a:bodyPr/>
                    <a:lstStyle/>
                    <a:p>
                      <a:pPr>
                        <a:defRPr sz="800"/>
                      </a:pPr>
                      <a:r>
                        <a:t>整合性</a:t>
                      </a:r>
                    </a:p>
                  </a:txBody>
                  <a:tcPr/>
                </a:tc>
                <a:tc>
                  <a:txBody>
                    <a:bodyPr/>
                    <a:lstStyle/>
                    <a:p>
                      <a:pPr>
                        <a:defRPr sz="800"/>
                      </a:pPr>
                      <a:r>
                        <a:t>mihft_pos の入力項目定義で SCEXEC の約定時刻と処理時刻の扱いが混在しており、再送時の更新順序に関する記述が不足している</a:t>
                      </a:r>
                    </a:p>
                  </a:txBody>
                  <a:tcPr/>
                </a:tc>
                <a:tc>
                  <a:txBody>
                    <a:bodyPr/>
                    <a:lstStyle/>
                    <a:p>
                      <a:pPr>
                        <a:defRPr sz="800"/>
                      </a:pPr>
                      <a:r>
                        <a:t>高</a:t>
                      </a:r>
                    </a:p>
                  </a:txBody>
                  <a:tcPr/>
                </a:tc>
                <a:tc>
                  <a:txBody>
                    <a:bodyPr/>
                    <a:lstStyle/>
                    <a:p>
                      <a:pPr>
                        <a:defRPr sz="800"/>
                      </a:pPr>
                      <a:r>
                        <a:t>SCEXEC 受信順と業務時刻の使い分けをアーキテクチャ補足資料に追記</a:t>
                      </a:r>
                    </a:p>
                  </a:txBody>
                  <a:tcPr/>
                </a:tc>
                <a:tc>
                  <a:txBody>
                    <a:bodyPr/>
                    <a:lstStyle/>
                    <a:p>
                      <a:pPr>
                        <a:defRPr sz="800"/>
                      </a:pPr>
                      <a:r>
                        <a:t>森田 健司</a:t>
                      </a:r>
                    </a:p>
                  </a:txBody>
                  <a:tcPr/>
                </a:tc>
                <a:tc>
                  <a:txBody>
                    <a:bodyPr/>
                    <a:lstStyle/>
                    <a:p>
                      <a:pPr>
                        <a:defRPr sz="800">
                          <a:solidFill>
                            <a:srgbClr val="C0392B"/>
                          </a:solidFill>
                        </a:defRPr>
                      </a:pPr>
                      <a:r>
                        <a:t>未対応</a:t>
                      </a:r>
                    </a:p>
                  </a:txBody>
                  <a:tcPr/>
                </a:tc>
              </a:tr>
              <a:tr h="457200">
                <a:tc>
                  <a:txBody>
                    <a:bodyPr/>
                    <a:lstStyle/>
                    <a:p>
                      <a:pPr>
                        <a:defRPr sz="800"/>
                      </a:pPr>
                      <a:r>
                        <a:t>2</a:t>
                      </a:r>
                    </a:p>
                  </a:txBody>
                  <a:tcPr/>
                </a:tc>
                <a:tc>
                  <a:txBody>
                    <a:bodyPr/>
                    <a:lstStyle/>
                    <a:p>
                      <a:pPr>
                        <a:defRPr sz="800"/>
                      </a:pPr>
                      <a:r>
                        <a:t>標準準拠</a:t>
                      </a:r>
                    </a:p>
                  </a:txBody>
                  <a:tcPr/>
                </a:tc>
                <a:tc>
                  <a:txBody>
                    <a:bodyPr/>
                    <a:lstStyle/>
                    <a:p>
                      <a:pPr>
                        <a:defRPr sz="800"/>
                      </a:pPr>
                      <a:r>
                        <a:t>mihft_types.h の共通ヘッダで定義済みの数量・金額型を一部資料内で個別表記しており、実装との突合時に誤読のおそれがある</a:t>
                      </a:r>
                    </a:p>
                  </a:txBody>
                  <a:tcPr/>
                </a:tc>
                <a:tc>
                  <a:txBody>
                    <a:bodyPr/>
                    <a:lstStyle/>
                    <a:p>
                      <a:pPr>
                        <a:defRPr sz="800"/>
                      </a:pPr>
                      <a:r>
                        <a:t>中</a:t>
                      </a:r>
                    </a:p>
                  </a:txBody>
                  <a:tcPr/>
                </a:tc>
                <a:tc>
                  <a:txBody>
                    <a:bodyPr/>
                    <a:lstStyle/>
                    <a:p>
                      <a:pPr>
                        <a:defRPr sz="800"/>
                      </a:pPr>
                      <a:r>
                        <a:t>型名は mihft_types.h の定義名に統一し、桁数説明は別表に分離</a:t>
                      </a:r>
                    </a:p>
                  </a:txBody>
                  <a:tcPr/>
                </a:tc>
                <a:tc>
                  <a:txBody>
                    <a:bodyPr/>
                    <a:lstStyle/>
                    <a:p>
                      <a:pPr>
                        <a:defRPr sz="800"/>
                      </a:pPr>
                      <a:r>
                        <a:t>小野寺 彩</a:t>
                      </a:r>
                    </a:p>
                  </a:txBody>
                  <a:tcPr/>
                </a:tc>
                <a:tc>
                  <a:txBody>
                    <a:bodyPr/>
                    <a:lstStyle/>
                    <a:p>
                      <a:pPr>
                        <a:defRPr sz="800"/>
                      </a:pPr>
                      <a:r>
                        <a:t>対応中</a:t>
                      </a:r>
                    </a:p>
                  </a:txBody>
                  <a:tcPr/>
                </a:tc>
              </a:tr>
              <a:tr h="457200">
                <a:tc>
                  <a:txBody>
                    <a:bodyPr/>
                    <a:lstStyle/>
                    <a:p>
                      <a:pPr>
                        <a:defRPr sz="800"/>
                      </a:pPr>
                      <a:r>
                        <a:t>3</a:t>
                      </a:r>
                    </a:p>
                  </a:txBody>
                  <a:tcPr/>
                </a:tc>
                <a:tc>
                  <a:txBody>
                    <a:bodyPr/>
                    <a:lstStyle/>
                    <a:p>
                      <a:pPr>
                        <a:defRPr sz="800"/>
                      </a:pPr>
                      <a:r>
                        <a:t>運用</a:t>
                      </a:r>
                    </a:p>
                  </a:txBody>
                  <a:tcPr/>
                </a:tc>
                <a:tc>
                  <a:txBody>
                    <a:bodyPr/>
                    <a:lstStyle/>
                    <a:p>
                      <a:pPr>
                        <a:defRPr sz="800"/>
                      </a:pPr>
                      <a:r>
                        <a:t>SCPOSF 更新後の ReconService 照合タイミングが日次前提で記載されているが、障害復旧時の臨時照合手順との関係が明確でない</a:t>
                      </a:r>
                    </a:p>
                  </a:txBody>
                  <a:tcPr/>
                </a:tc>
                <a:tc>
                  <a:txBody>
                    <a:bodyPr/>
                    <a:lstStyle/>
                    <a:p>
                      <a:pPr>
                        <a:defRPr sz="800"/>
                      </a:pPr>
                      <a:r>
                        <a:t>B</a:t>
                      </a:r>
                    </a:p>
                  </a:txBody>
                  <a:tcPr/>
                </a:tc>
                <a:tc>
                  <a:txBody>
                    <a:bodyPr/>
                    <a:lstStyle/>
                    <a:p>
                      <a:pPr>
                        <a:defRPr sz="800"/>
                      </a:pPr>
                      <a:r>
                        <a:t>(案) 運用手順書側で臨時照合の起動条件を明記。今回資料には参照先のみ追加</a:t>
                      </a:r>
                    </a:p>
                  </a:txBody>
                  <a:tcPr/>
                </a:tc>
                <a:tc>
                  <a:txBody>
                    <a:bodyPr/>
                    <a:lstStyle/>
                    <a:p>
                      <a:pPr>
                        <a:defRPr sz="800"/>
                      </a:pPr>
                      <a:r>
                        <a:t>長谷川 直人</a:t>
                      </a:r>
                    </a:p>
                  </a:txBody>
                  <a:tcPr/>
                </a:tc>
                <a:tc>
                  <a:txBody>
                    <a:bodyPr/>
                    <a:lstStyle/>
                    <a:p>
                      <a:pPr>
                        <a:defRPr sz="800">
                          <a:solidFill>
                            <a:srgbClr val="C0392B"/>
                          </a:solidFill>
                        </a:defRPr>
                      </a:pPr>
                      <a:r>
                        <a:t>未対応</a:t>
                      </a:r>
                    </a:p>
                  </a:txBody>
                  <a:tcPr/>
                </a:tc>
              </a:tr>
              <a:tr h="457200">
                <a:tc>
                  <a:txBody>
                    <a:bodyPr/>
                    <a:lstStyle/>
                    <a:p>
                      <a:pPr>
                        <a:defRPr sz="800"/>
                      </a:pPr>
                      <a:r>
                        <a:t>4</a:t>
                      </a:r>
                    </a:p>
                  </a:txBody>
                  <a:tcPr/>
                </a:tc>
                <a:tc>
                  <a:txBody>
                    <a:bodyPr/>
                    <a:lstStyle/>
                    <a:p>
                      <a:pPr>
                        <a:defRPr sz="800"/>
                      </a:pPr>
                      <a:r>
                        <a:t>非機能</a:t>
                      </a:r>
                    </a:p>
                  </a:txBody>
                  <a:tcPr/>
                </a:tc>
                <a:tc>
                  <a:txBody>
                    <a:bodyPr/>
                    <a:lstStyle/>
                    <a:p>
                      <a:pPr>
                        <a:defRPr sz="800"/>
                      </a:pPr>
                      <a:r>
                        <a:t>SCINSTF、SCCUST、SCCALF の参照失敗時に mihft_pos が処理継続する条件と保留扱いにする条件の境界が本文から読み取りにくい</a:t>
                      </a:r>
                    </a:p>
                  </a:txBody>
                  <a:tcPr/>
                </a:tc>
                <a:tc>
                  <a:txBody>
                    <a:bodyPr/>
                    <a:lstStyle/>
                    <a:p>
                      <a:pPr>
                        <a:defRPr sz="800"/>
                      </a:pPr>
                      <a:r>
                        <a:t>高</a:t>
                      </a:r>
                    </a:p>
                  </a:txBody>
                  <a:tcPr/>
                </a:tc>
                <a:tc>
                  <a:txBody>
                    <a:bodyPr/>
                    <a:lstStyle/>
                    <a:p>
                      <a:pPr>
                        <a:defRPr sz="800"/>
                      </a:pPr>
                      <a:r>
                        <a:t>参照データ別に継続可否、保留登録、再処理要否を整理した表を追加</a:t>
                      </a:r>
                    </a:p>
                  </a:txBody>
                  <a:tcPr/>
                </a:tc>
                <a:tc>
                  <a:txBody>
                    <a:bodyPr/>
                    <a:lstStyle/>
                    <a:p>
                      <a:pPr>
                        <a:defRPr sz="800"/>
                      </a:pPr>
                      <a:r>
                        <a:t>森田 健司</a:t>
                      </a:r>
                    </a:p>
                  </a:txBody>
                  <a:tcPr/>
                </a:tc>
                <a:tc>
                  <a:txBody>
                    <a:bodyPr/>
                    <a:lstStyle/>
                    <a:p>
                      <a:pPr>
                        <a:defRPr sz="800">
                          <a:solidFill>
                            <a:srgbClr val="C0392B"/>
                          </a:solidFill>
                        </a:defRPr>
                      </a:pPr>
                      <a:r>
                        <a:t>未対応</a:t>
                      </a:r>
                    </a:p>
                  </a:txBody>
                  <a:tcPr/>
                </a:tc>
              </a:tr>
            </a:tbl>
          </a:graphicData>
        </a:graphic>
      </p:graphicFrame>
      <p:sp>
        <p:nvSpPr>
          <p:cNvPr id="4" name="TextBox 3"/>
          <p:cNvSpPr txBox="1"/>
          <p:nvPr/>
        </p:nvSpPr>
        <p:spPr>
          <a:xfrm>
            <a:off x="274320" y="6492240"/>
            <a:ext cx="8595360" cy="320040"/>
          </a:xfrm>
          <a:prstGeom prst="rect">
            <a:avLst/>
          </a:prstGeom>
          <a:noFill/>
        </p:spPr>
        <p:txBody>
          <a:bodyPr wrap="none">
            <a:spAutoFit/>
          </a:bodyPr>
          <a:lstStyle/>
          <a:p>
            <a:pPr>
              <a:defRPr sz="900">
                <a:solidFill>
                  <a:srgbClr val="888888"/>
                </a:solidFill>
              </a:defRPr>
            </a:pPr>
            <a:r>
              <a:t>v1.2 (案)    社外秘    4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