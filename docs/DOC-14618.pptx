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463040"/>
            <a:ext cx="7680960" cy="2011680"/>
          </a:xfrm>
          <a:prstGeom prst="rect">
            <a:avLst/>
          </a:prstGeom>
          <a:noFill/>
        </p:spPr>
        <p:txBody>
          <a:bodyPr wrap="square">
            <a:spAutoFit/>
          </a:bodyPr>
          <a:lstStyle/>
          <a:p>
            <a:pPr>
              <a:defRPr sz="2800" b="1">
                <a:solidFill>
                  <a:srgbClr val="2C5AA0"/>
                </a:solidFill>
              </a:defRPr>
            </a:pPr>
            <a:r>
              <a:t>オーダーブック・価格検証サブシステム アーキテクチャ概要レビュー資料</a:t>
            </a:r>
          </a:p>
          <a:p>
            <a:pPr>
              <a:defRPr sz="1600"/>
            </a:pPr>
            <a:r>
              <a:t>C ホットパスにおける発注・価格検証・板登録連携の確認 (TS-2025-0418)</a:t>
            </a:r>
          </a:p>
          <a:p>
            <a:pPr>
              <a:defRPr sz="1200"/>
            </a:pPr>
            <a:r>
              <a:t>みらい証券 HFT基盤 オーダーブック系</a:t>
            </a:r>
          </a:p>
          <a:p>
            <a:pPr>
              <a:defRPr sz="1200"/>
            </a:pPr>
            <a:r>
              <a:t>アーキテクチャ概要レビュー</a:t>
            </a:r>
          </a:p>
          <a:p>
            <a:pPr>
              <a:defRPr sz="1200"/>
            </a:pPr>
            <a:r>
              <a:t>発表: 佐伯 直人 (MST-214)</a:t>
            </a:r>
          </a:p>
          <a:p>
            <a:pPr>
              <a:defRPr sz="1200"/>
            </a:pPr>
            <a:r>
              <a:t>令和7年4月18日</a:t>
            </a:r>
          </a:p>
        </p:txBody>
      </p:sp>
      <p:sp>
        <p:nvSpPr>
          <p:cNvPr id="3" name="TextBox 2"/>
          <p:cNvSpPr txBox="1"/>
          <p:nvPr/>
        </p:nvSpPr>
        <p:spPr>
          <a:xfrm>
            <a:off x="6949440" y="274320"/>
            <a:ext cx="1828800" cy="457200"/>
          </a:xfrm>
          <a:prstGeom prst="rect">
            <a:avLst/>
          </a:prstGeom>
          <a:noFill/>
        </p:spPr>
        <p:txBody>
          <a:bodyPr wrap="none">
            <a:spAutoFit/>
          </a:bodyPr>
          <a:lstStyle/>
          <a:p>
            <a:pPr algn="r">
              <a:defRPr sz="1200">
                <a:solidFill>
                  <a:srgbClr val="C0392B"/>
                </a:solidFill>
              </a:defRPr>
            </a:pPr>
            <a:r>
              <a:t>社外秘 / v1.2 (レビュー版)</a:t>
            </a:r>
          </a:p>
        </p:txBody>
      </p:sp>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(レビュー版)    社外秘    1 /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200" b="1">
                <a:solidFill>
                  <a:srgbClr val="2C5AA0"/>
                </a:solidFill>
              </a:defRPr>
            </a:pPr>
            <a:r>
              <a:t>アジェンダ</a:t>
            </a:r>
          </a:p>
        </p:txBody>
      </p:sp>
      <p:sp>
        <p:nvSpPr>
          <p:cNvPr id="3" name="TextBox 2"/>
          <p:cNvSpPr txBox="1"/>
          <p:nvPr/>
        </p:nvSpPr>
        <p:spPr>
          <a:xfrm>
            <a:off x="640080" y="1188720"/>
            <a:ext cx="7863840" cy="3657600"/>
          </a:xfrm>
          <a:prstGeom prst="rect">
            <a:avLst/>
          </a:prstGeom>
          <a:noFill/>
        </p:spPr>
        <p:txBody>
          <a:bodyPr wrap="square">
            <a:spAutoFit/>
          </a:bodyPr>
          <a:lstStyle/>
          <a:p>
            <a:pPr>
              <a:defRPr sz="1600"/>
            </a:pPr>
            <a:r>
              <a:t>・1. レビュー目的・観点</a:t>
            </a:r>
          </a:p>
          <a:p>
            <a:pPr>
              <a:defRPr sz="1600"/>
            </a:pPr>
            <a:r>
              <a:t>・2. 発注から板登録までの処理概要</a:t>
            </a:r>
          </a:p>
          <a:p>
            <a:pPr>
              <a:defRPr sz="1600"/>
            </a:pPr>
            <a:r>
              <a:t>・3. 銘柄マスタ参照と価格検証コンポーネントの責務分担</a:t>
            </a:r>
          </a:p>
          <a:p>
            <a:pPr>
              <a:defRPr sz="1600"/>
            </a:pPr>
            <a:r>
              <a:t>・4. 指摘事項一覧</a:t>
            </a:r>
          </a:p>
          <a:p>
            <a:pPr>
              <a:defRPr sz="1600"/>
            </a:pPr>
            <a:r>
              <a:t>・5. 残課題・次のステップ</a:t>
            </a:r>
          </a:p>
        </p:txBody>
      </p:sp>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(レビュー版)    社外秘    2 /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000" b="1">
                <a:solidFill>
                  <a:srgbClr val="2C5AA0"/>
                </a:solidFill>
              </a:defRPr>
            </a:pPr>
            <a:r>
              <a:t>設計概要 — 処理フロー (図1)</a:t>
            </a:r>
          </a:p>
        </p:txBody>
      </p:sp>
      <p:sp>
        <p:nvSpPr>
          <p:cNvPr id="3" name="Rectangle 2"/>
          <p:cNvSpPr/>
          <p:nvPr/>
        </p:nvSpPr>
        <p:spPr>
          <a:xfrm>
            <a:off x="36576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OmsService 発注受付</a:t>
            </a:r>
          </a:p>
        </p:txBody>
      </p:sp>
      <p:sp>
        <p:nvSpPr>
          <p:cNvPr id="4" name="Rectangle 3"/>
          <p:cNvSpPr/>
          <p:nvPr/>
        </p:nvSpPr>
        <p:spPr>
          <a:xfrm>
            <a:off x="251460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SCORDF 発注データ</a:t>
            </a:r>
          </a:p>
        </p:txBody>
      </p:sp>
      <p:sp>
        <p:nvSpPr>
          <p:cNvPr id="5" name="Rectangle 4"/>
          <p:cNvSpPr/>
          <p:nvPr/>
        </p:nvSpPr>
        <p:spPr>
          <a:xfrm>
            <a:off x="466344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mihft_tick 銘柄別呼値情報提供</a:t>
            </a:r>
          </a:p>
        </p:txBody>
      </p:sp>
      <p:sp>
        <p:nvSpPr>
          <p:cNvPr id="6" name="Rectangle 5"/>
          <p:cNvSpPr/>
          <p:nvPr/>
        </p:nvSpPr>
        <p:spPr>
          <a:xfrm>
            <a:off x="6812279"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mihft_book 価格検証・板登録</a:t>
            </a:r>
          </a:p>
        </p:txBody>
      </p:sp>
      <p:sp>
        <p:nvSpPr>
          <p:cNvPr id="7" name="TextBox 6"/>
          <p:cNvSpPr txBox="1"/>
          <p:nvPr/>
        </p:nvSpPr>
        <p:spPr>
          <a:xfrm>
            <a:off x="457200" y="3108960"/>
            <a:ext cx="8229600" cy="2103120"/>
          </a:xfrm>
          <a:prstGeom prst="rect">
            <a:avLst/>
          </a:prstGeom>
          <a:noFill/>
        </p:spPr>
        <p:txBody>
          <a:bodyPr wrap="square">
            <a:spAutoFit/>
          </a:bodyPr>
          <a:lstStyle/>
          <a:p>
            <a:pPr>
              <a:defRPr sz="1300"/>
            </a:pPr>
            <a:r>
              <a:t>・mihft_book は SCORDF の発注イベントを受け、価格検証後に SCBOOK へ登録する</a:t>
            </a:r>
          </a:p>
          <a:p>
            <a:pPr>
              <a:defRPr sz="1300"/>
            </a:pPr>
            <a:r>
              <a:t>・mihft_tick は SCINSTF の銘柄属性を参照し、銘柄別の呼値情報をホットパス向けに提供する</a:t>
            </a:r>
          </a:p>
          <a:p>
            <a:pPr>
              <a:defRPr sz="1300"/>
            </a:pPr>
            <a:r>
              <a:t>・価格検証の細部は銘柄マスタおよび実装に従うものとし、本資料では具体的な判定条件を扱わない</a:t>
            </a:r>
          </a:p>
          <a:p>
            <a:pPr>
              <a:defRPr sz="1300"/>
            </a:pPr>
            <a:r>
              <a:t>・Java サービス群は OmsService、RefDataService、GroupRiskService、ReconService に分け、C ホットパスとは責務を分離する</a:t>
            </a:r>
          </a:p>
        </p:txBody>
      </p:sp>
      <p:sp>
        <p:nvSpPr>
          <p:cNvPr id="8" name="TextBox 7"/>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(レビュー版)    社外秘    3 /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000" b="1">
                <a:solidFill>
                  <a:srgbClr val="2C5AA0"/>
                </a:solidFill>
              </a:defRPr>
            </a:pPr>
            <a:r>
              <a:t>指摘事項一覧</a:t>
            </a:r>
          </a:p>
        </p:txBody>
      </p:sp>
      <p:graphicFrame>
        <p:nvGraphicFramePr>
          <p:cNvPr id="3" name="Table 2"/>
          <p:cNvGraphicFramePr>
            <a:graphicFrameLocks noGrp="1"/>
          </p:cNvGraphicFramePr>
          <p:nvPr/>
        </p:nvGraphicFramePr>
        <p:xfrm>
          <a:off x="274320" y="914400"/>
          <a:ext cx="8595360" cy="2286000"/>
        </p:xfrm>
        <a:graphic>
          <a:graphicData uri="http://schemas.openxmlformats.org/drawingml/2006/table">
            <a:tbl>
              <a:tblPr firstRow="1" bandRow="1">
                <a:tableStyleId>{5C22544A-7EE6-4342-B048-85BDC9FD1C3A}</a:tableStyleId>
              </a:tblPr>
              <a:tblGrid>
                <a:gridCol w="457200"/>
                <a:gridCol w="822960"/>
                <a:gridCol w="3291840"/>
                <a:gridCol w="731520"/>
                <a:gridCol w="1828800"/>
                <a:gridCol w="822960"/>
                <a:gridCol w="640080"/>
              </a:tblGrid>
              <a:tr h="457200">
                <a:tc>
                  <a:txBody>
                    <a:bodyPr/>
                    <a:lstStyle/>
                    <a:p>
                      <a:pPr>
                        <a:defRPr sz="900" b="1"/>
                      </a:pPr>
                      <a:r>
                        <a:t>No.</a:t>
                      </a:r>
                    </a:p>
                  </a:txBody>
                  <a:tcPr>
                    <a:solidFill>
                      <a:srgbClr val="DFE6EF"/>
                    </a:solidFill>
                  </a:tcPr>
                </a:tc>
                <a:tc>
                  <a:txBody>
                    <a:bodyPr/>
                    <a:lstStyle/>
                    <a:p>
                      <a:pPr>
                        <a:defRPr sz="900" b="1"/>
                      </a:pPr>
                      <a:r>
                        <a:t>区分</a:t>
                      </a:r>
                    </a:p>
                  </a:txBody>
                  <a:tcPr>
                    <a:solidFill>
                      <a:srgbClr val="DFE6EF"/>
                    </a:solidFill>
                  </a:tcPr>
                </a:tc>
                <a:tc>
                  <a:txBody>
                    <a:bodyPr/>
                    <a:lstStyle/>
                    <a:p>
                      <a:pPr>
                        <a:defRPr sz="900" b="1"/>
                      </a:pPr>
                      <a:r>
                        <a:t>指摘内容</a:t>
                      </a:r>
                    </a:p>
                  </a:txBody>
                  <a:tcPr>
                    <a:solidFill>
                      <a:srgbClr val="DFE6EF"/>
                    </a:solidFill>
                  </a:tcPr>
                </a:tc>
                <a:tc>
                  <a:txBody>
                    <a:bodyPr/>
                    <a:lstStyle/>
                    <a:p>
                      <a:pPr>
                        <a:defRPr sz="900" b="1"/>
                      </a:pPr>
                      <a:r>
                        <a:t>重要度</a:t>
                      </a:r>
                    </a:p>
                  </a:txBody>
                  <a:tcPr>
                    <a:solidFill>
                      <a:srgbClr val="DFE6EF"/>
                    </a:solidFill>
                  </a:tcPr>
                </a:tc>
                <a:tc>
                  <a:txBody>
                    <a:bodyPr/>
                    <a:lstStyle/>
                    <a:p>
                      <a:pPr>
                        <a:defRPr sz="900" b="1"/>
                      </a:pPr>
                      <a:r>
                        <a:t>対応方針</a:t>
                      </a:r>
                    </a:p>
                  </a:txBody>
                  <a:tcPr>
                    <a:solidFill>
                      <a:srgbClr val="DFE6EF"/>
                    </a:solidFill>
                  </a:tcPr>
                </a:tc>
                <a:tc>
                  <a:txBody>
                    <a:bodyPr/>
                    <a:lstStyle/>
                    <a:p>
                      <a:pPr>
                        <a:defRPr sz="900" b="1"/>
                      </a:pPr>
                      <a:r>
                        <a:t>担当</a:t>
                      </a:r>
                    </a:p>
                  </a:txBody>
                  <a:tcPr>
                    <a:solidFill>
                      <a:srgbClr val="DFE6EF"/>
                    </a:solidFill>
                  </a:tcPr>
                </a:tc>
                <a:tc>
                  <a:txBody>
                    <a:bodyPr/>
                    <a:lstStyle/>
                    <a:p>
                      <a:pPr>
                        <a:defRPr sz="900" b="1"/>
                      </a:pPr>
                      <a:r>
                        <a:t>状態</a:t>
                      </a:r>
                    </a:p>
                  </a:txBody>
                  <a:tcPr>
                    <a:solidFill>
                      <a:srgbClr val="DFE6EF"/>
                    </a:solidFill>
                  </a:tcPr>
                </a:tc>
              </a:tr>
              <a:tr h="457200">
                <a:tc>
                  <a:txBody>
                    <a:bodyPr/>
                    <a:lstStyle/>
                    <a:p>
                      <a:pPr>
                        <a:defRPr sz="800"/>
                      </a:pPr>
                      <a:r>
                        <a:t>1</a:t>
                      </a:r>
                    </a:p>
                  </a:txBody>
                  <a:tcPr/>
                </a:tc>
                <a:tc>
                  <a:txBody>
                    <a:bodyPr/>
                    <a:lstStyle/>
                    <a:p>
                      <a:pPr>
                        <a:defRPr sz="800"/>
                      </a:pPr>
                      <a:r>
                        <a:t>責務分担</a:t>
                      </a:r>
                    </a:p>
                  </a:txBody>
                  <a:tcPr/>
                </a:tc>
                <a:tc>
                  <a:txBody>
                    <a:bodyPr/>
                    <a:lstStyle/>
                    <a:p>
                      <a:pPr>
                        <a:defRPr sz="800"/>
                      </a:pPr>
                      <a:r>
                        <a:t>mihft_book と RefDataService の境界記述が概略のみで、SCINSTF 更新時の反映経路が図中で読み取りにくい</a:t>
                      </a:r>
                    </a:p>
                  </a:txBody>
                  <a:tcPr/>
                </a:tc>
                <a:tc>
                  <a:txBody>
                    <a:bodyPr/>
                    <a:lstStyle/>
                    <a:p>
                      <a:pPr>
                        <a:defRPr sz="800"/>
                      </a:pPr>
                      <a:r>
                        <a:t>中</a:t>
                      </a:r>
                    </a:p>
                  </a:txBody>
                  <a:tcPr/>
                </a:tc>
                <a:tc>
                  <a:txBody>
                    <a:bodyPr/>
                    <a:lstStyle/>
                    <a:p>
                      <a:pPr>
                        <a:defRPr sz="800"/>
                      </a:pPr>
                      <a:r>
                        <a:t>RefDataService から mihft_tick への参照データ連携を補足図に追記</a:t>
                      </a:r>
                    </a:p>
                  </a:txBody>
                  <a:tcPr/>
                </a:tc>
                <a:tc>
                  <a:txBody>
                    <a:bodyPr/>
                    <a:lstStyle/>
                    <a:p>
                      <a:pPr>
                        <a:defRPr sz="800"/>
                      </a:pPr>
                      <a:r>
                        <a:t>佐伯 直人</a:t>
                      </a:r>
                    </a:p>
                  </a:txBody>
                  <a:tcPr/>
                </a:tc>
                <a:tc>
                  <a:txBody>
                    <a:bodyPr/>
                    <a:lstStyle/>
                    <a:p>
                      <a:pPr>
                        <a:defRPr sz="800"/>
                      </a:pPr>
                      <a:r>
                        <a:t>対応中</a:t>
                      </a:r>
                    </a:p>
                  </a:txBody>
                  <a:tcPr/>
                </a:tc>
              </a:tr>
              <a:tr h="457200">
                <a:tc>
                  <a:txBody>
                    <a:bodyPr/>
                    <a:lstStyle/>
                    <a:p>
                      <a:pPr>
                        <a:defRPr sz="800"/>
                      </a:pPr>
                      <a:r>
                        <a:t>2</a:t>
                      </a:r>
                    </a:p>
                  </a:txBody>
                  <a:tcPr/>
                </a:tc>
                <a:tc>
                  <a:txBody>
                    <a:bodyPr/>
                    <a:lstStyle/>
                    <a:p>
                      <a:pPr>
                        <a:defRPr sz="800"/>
                      </a:pPr>
                      <a:r>
                        <a:t>性能</a:t>
                      </a:r>
                    </a:p>
                  </a:txBody>
                  <a:tcPr/>
                </a:tc>
                <a:tc>
                  <a:txBody>
                    <a:bodyPr/>
                    <a:lstStyle/>
                    <a:p>
                      <a:pPr>
                        <a:defRPr sz="800"/>
                      </a:pPr>
                      <a:r>
                        <a:t>SCORDF から SCBOOK までの遅延目標は記載されているが、ピーク時の SCEXEC 連携を含む測定条件が未整理</a:t>
                      </a:r>
                    </a:p>
                  </a:txBody>
                  <a:tcPr/>
                </a:tc>
                <a:tc>
                  <a:txBody>
                    <a:bodyPr/>
                    <a:lstStyle/>
                    <a:p>
                      <a:pPr>
                        <a:defRPr sz="800"/>
                      </a:pPr>
                      <a:r>
                        <a:t>高</a:t>
                      </a:r>
                    </a:p>
                  </a:txBody>
                  <a:tcPr/>
                </a:tc>
                <a:tc>
                  <a:txBody>
                    <a:bodyPr/>
                    <a:lstStyle/>
                    <a:p>
                      <a:pPr>
                        <a:defRPr sz="800"/>
                      </a:pPr>
                      <a:r>
                        <a:t>性能試験計画に注文集中時間帯の前提、SCEXEC 書込み条件、再送時の扱いを明記</a:t>
                      </a:r>
                    </a:p>
                  </a:txBody>
                  <a:tcPr/>
                </a:tc>
                <a:tc>
                  <a:txBody>
                    <a:bodyPr/>
                    <a:lstStyle/>
                    <a:p>
                      <a:pPr>
                        <a:defRPr sz="800"/>
                      </a:pPr>
                      <a:r>
                        <a:t>田村 航</a:t>
                      </a:r>
                    </a:p>
                  </a:txBody>
                  <a:tcPr/>
                </a:tc>
                <a:tc>
                  <a:txBody>
                    <a:bodyPr/>
                    <a:lstStyle/>
                    <a:p>
                      <a:pPr>
                        <a:defRPr sz="800">
                          <a:solidFill>
                            <a:srgbClr val="C0392B"/>
                          </a:solidFill>
                        </a:defRPr>
                      </a:pPr>
                      <a:r>
                        <a:t>未対応</a:t>
                      </a:r>
                    </a:p>
                  </a:txBody>
                  <a:tcPr/>
                </a:tc>
              </a:tr>
              <a:tr h="457200">
                <a:tc>
                  <a:txBody>
                    <a:bodyPr/>
                    <a:lstStyle/>
                    <a:p>
                      <a:pPr>
                        <a:defRPr sz="800"/>
                      </a:pPr>
                      <a:r>
                        <a:t>3</a:t>
                      </a:r>
                    </a:p>
                  </a:txBody>
                  <a:tcPr/>
                </a:tc>
                <a:tc>
                  <a:txBody>
                    <a:bodyPr/>
                    <a:lstStyle/>
                    <a:p>
                      <a:pPr>
                        <a:defRPr sz="800"/>
                      </a:pPr>
                      <a:r>
                        <a:t>運用</a:t>
                      </a:r>
                    </a:p>
                  </a:txBody>
                  <a:tcPr/>
                </a:tc>
                <a:tc>
                  <a:txBody>
                    <a:bodyPr/>
                    <a:lstStyle/>
                    <a:p>
                      <a:pPr>
                        <a:defRPr sz="800"/>
                      </a:pPr>
                      <a:r>
                        <a:t>SCCALF の取引日・休業日情報を用いた起動時チェックの記述が運用手順書側に分散している</a:t>
                      </a:r>
                    </a:p>
                  </a:txBody>
                  <a:tcPr/>
                </a:tc>
                <a:tc>
                  <a:txBody>
                    <a:bodyPr/>
                    <a:lstStyle/>
                    <a:p>
                      <a:pPr>
                        <a:defRPr sz="800"/>
                      </a:pPr>
                      <a:r>
                        <a:t>B</a:t>
                      </a:r>
                    </a:p>
                  </a:txBody>
                  <a:tcPr/>
                </a:tc>
                <a:tc>
                  <a:txBody>
                    <a:bodyPr/>
                    <a:lstStyle/>
                    <a:p>
                      <a:pPr>
                        <a:defRPr sz="800"/>
                      </a:pPr>
                      <a:r>
                        <a:t>本レビュー資料には参照先を追記し、詳細手順は運用手順書に集約</a:t>
                      </a:r>
                    </a:p>
                  </a:txBody>
                  <a:tcPr/>
                </a:tc>
                <a:tc>
                  <a:txBody>
                    <a:bodyPr/>
                    <a:lstStyle/>
                    <a:p>
                      <a:pPr>
                        <a:defRPr sz="800"/>
                      </a:pPr>
                      <a:r>
                        <a:t>森下 彩</a:t>
                      </a:r>
                    </a:p>
                  </a:txBody>
                  <a:tcPr/>
                </a:tc>
                <a:tc>
                  <a:txBody>
                    <a:bodyPr/>
                    <a:lstStyle/>
                    <a:p>
                      <a:pPr>
                        <a:defRPr sz="800"/>
                      </a:pPr>
                      <a:r>
                        <a:t>対応中</a:t>
                      </a:r>
                    </a:p>
                  </a:txBody>
                  <a:tcPr/>
                </a:tc>
              </a:tr>
              <a:tr h="457200">
                <a:tc>
                  <a:txBody>
                    <a:bodyPr/>
                    <a:lstStyle/>
                    <a:p>
                      <a:pPr>
                        <a:defRPr sz="800"/>
                      </a:pPr>
                      <a:r>
                        <a:t>4</a:t>
                      </a:r>
                    </a:p>
                  </a:txBody>
                  <a:tcPr/>
                </a:tc>
                <a:tc>
                  <a:txBody>
                    <a:bodyPr/>
                    <a:lstStyle/>
                    <a:p>
                      <a:pPr>
                        <a:defRPr sz="800"/>
                      </a:pPr>
                      <a:r>
                        <a:t>保守性</a:t>
                      </a:r>
                    </a:p>
                  </a:txBody>
                  <a:tcPr/>
                </a:tc>
                <a:tc>
                  <a:txBody>
                    <a:bodyPr/>
                    <a:lstStyle/>
                    <a:p>
                      <a:pPr>
                        <a:defRPr sz="800"/>
                      </a:pPr>
                      <a:r>
                        <a:t>mihft_types.h の共有構造体変更時に、ReconService が参照する SCPOSF・SCBOOK 突合処理への影響確認観点が不足</a:t>
                      </a:r>
                    </a:p>
                  </a:txBody>
                  <a:tcPr/>
                </a:tc>
                <a:tc>
                  <a:txBody>
                    <a:bodyPr/>
                    <a:lstStyle/>
                    <a:p>
                      <a:pPr>
                        <a:defRPr sz="800"/>
                      </a:pPr>
                      <a:r>
                        <a:t>中</a:t>
                      </a:r>
                    </a:p>
                  </a:txBody>
                  <a:tcPr/>
                </a:tc>
                <a:tc>
                  <a:txBody>
                    <a:bodyPr/>
                    <a:lstStyle/>
                    <a:p>
                      <a:pPr>
                        <a:defRPr sz="800"/>
                      </a:pPr>
                      <a:r>
                        <a:t>構造体変更時の影響範囲に ReconService、SCPOSF、SCBOOK、SCEXEC を追加</a:t>
                      </a:r>
                    </a:p>
                  </a:txBody>
                  <a:tcPr/>
                </a:tc>
                <a:tc>
                  <a:txBody>
                    <a:bodyPr/>
                    <a:lstStyle/>
                    <a:p>
                      <a:pPr>
                        <a:defRPr sz="800"/>
                      </a:pPr>
                      <a:r>
                        <a:t>井上 健太</a:t>
                      </a:r>
                    </a:p>
                  </a:txBody>
                  <a:tcPr/>
                </a:tc>
                <a:tc>
                  <a:txBody>
                    <a:bodyPr/>
                    <a:lstStyle/>
                    <a:p>
                      <a:pPr>
                        <a:defRPr sz="800">
                          <a:solidFill>
                            <a:srgbClr val="C0392B"/>
                          </a:solidFill>
                        </a:defRPr>
                      </a:pPr>
                      <a:r>
                        <a:t>未対応</a:t>
                      </a:r>
                    </a:p>
                  </a:txBody>
                  <a:tcPr/>
                </a:tc>
              </a:tr>
            </a:tbl>
          </a:graphicData>
        </a:graphic>
      </p:graphicFrame>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(レビュー版)    社外秘    4 /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