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463040"/>
            <a:ext cx="7680960" cy="2011680"/>
          </a:xfrm>
          <a:prstGeom prst="rect">
            <a:avLst/>
          </a:prstGeom>
          <a:noFill/>
        </p:spPr>
        <p:txBody>
          <a:bodyPr wrap="square">
            <a:spAutoFit/>
          </a:bodyPr>
          <a:lstStyle/>
          <a:p>
            <a:pPr>
              <a:defRPr sz="2800" b="1">
                <a:solidFill>
                  <a:srgbClr val="2C5AA0"/>
                </a:solidFill>
              </a:defRPr>
            </a:pPr>
            <a:r>
              <a:t>加盟店精算ネッティング基盤 アーキテクチャ概要レビュー資料</a:t>
            </a:r>
          </a:p>
          <a:p>
            <a:pPr>
              <a:defRPr sz="1600"/>
            </a:pPr>
            <a:r>
              <a:t>売上確定取込から振込ファイル生成までの連携確認 (MP-2409-17)</a:t>
            </a:r>
          </a:p>
          <a:p>
            <a:pPr>
              <a:defRPr sz="1200"/>
            </a:pPr>
            <a:r>
              <a:t>みらいペイ 加盟店精算システム</a:t>
            </a:r>
          </a:p>
          <a:p>
            <a:pPr>
              <a:defRPr sz="1200"/>
            </a:pPr>
            <a:r>
              <a:t>アーキテクチャ概要レビュー</a:t>
            </a:r>
          </a:p>
          <a:p>
            <a:pPr>
              <a:defRPr sz="1200"/>
            </a:pPr>
            <a:r>
              <a:t>発表: 佐伯 千尋 (MP-042)</a:t>
            </a:r>
          </a:p>
          <a:p>
            <a:pPr>
              <a:defRPr sz="1200"/>
            </a:pPr>
            <a:r>
              <a:t>令和6年9月20日</a:t>
            </a:r>
          </a:p>
        </p:txBody>
      </p:sp>
      <p:sp>
        <p:nvSpPr>
          <p:cNvPr id="3" name="TextBox 2"/>
          <p:cNvSpPr txBox="1"/>
          <p:nvPr/>
        </p:nvSpPr>
        <p:spPr>
          <a:xfrm>
            <a:off x="6949440" y="274320"/>
            <a:ext cx="1828800" cy="457200"/>
          </a:xfrm>
          <a:prstGeom prst="rect">
            <a:avLst/>
          </a:prstGeom>
          <a:noFill/>
        </p:spPr>
        <p:txBody>
          <a:bodyPr wrap="none">
            <a:spAutoFit/>
          </a:bodyPr>
          <a:lstStyle/>
          <a:p>
            <a:pPr algn="r">
              <a:defRPr sz="1200">
                <a:solidFill>
                  <a:srgbClr val="C0392B"/>
                </a:solidFill>
              </a:defRPr>
            </a:pPr>
            <a:r>
              <a:t>社外秘 / v1.2 (案)</a:t>
            </a:r>
          </a:p>
        </p:txBody>
      </p:sp>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(案)    社外秘    1 /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200" b="1">
                <a:solidFill>
                  <a:srgbClr val="2C5AA0"/>
                </a:solidFill>
              </a:defRPr>
            </a:pPr>
            <a:r>
              <a:t>アジェンダ</a:t>
            </a:r>
          </a:p>
        </p:txBody>
      </p:sp>
      <p:sp>
        <p:nvSpPr>
          <p:cNvPr id="3" name="TextBox 2"/>
          <p:cNvSpPr txBox="1"/>
          <p:nvPr/>
        </p:nvSpPr>
        <p:spPr>
          <a:xfrm>
            <a:off x="640080" y="1188720"/>
            <a:ext cx="7863840" cy="3657600"/>
          </a:xfrm>
          <a:prstGeom prst="rect">
            <a:avLst/>
          </a:prstGeom>
          <a:noFill/>
        </p:spPr>
        <p:txBody>
          <a:bodyPr wrap="square">
            <a:spAutoFit/>
          </a:bodyPr>
          <a:lstStyle/>
          <a:p>
            <a:pPr>
              <a:defRPr sz="1600"/>
            </a:pPr>
            <a:r>
              <a:t>・1. レビュー目的・観点</a:t>
            </a:r>
          </a:p>
          <a:p>
            <a:pPr>
              <a:defRPr sz="1600"/>
            </a:pPr>
            <a:r>
              <a:t>・2. 加盟店精算ネッティング基盤の全体構成</a:t>
            </a:r>
          </a:p>
          <a:p>
            <a:pPr>
              <a:defRPr sz="1600"/>
            </a:pPr>
            <a:r>
              <a:t>・3. 売上確定取込から振込ファイル生成までの連携</a:t>
            </a:r>
          </a:p>
          <a:p>
            <a:pPr>
              <a:defRPr sz="1600"/>
            </a:pPr>
            <a:r>
              <a:t>・4. 指摘事項一覧</a:t>
            </a:r>
          </a:p>
          <a:p>
            <a:pPr>
              <a:defRPr sz="1600"/>
            </a:pPr>
            <a:r>
              <a:t>・5. 残課題・次のステップ</a:t>
            </a:r>
          </a:p>
        </p:txBody>
      </p:sp>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(案)    社外秘    2 / 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000" b="1">
                <a:solidFill>
                  <a:srgbClr val="2C5AA0"/>
                </a:solidFill>
              </a:defRPr>
            </a:pPr>
            <a:r>
              <a:t>設計概要 — 処理フロー (図1)</a:t>
            </a:r>
          </a:p>
        </p:txBody>
      </p:sp>
      <p:sp>
        <p:nvSpPr>
          <p:cNvPr id="3" name="Rectangle 2"/>
          <p:cNvSpPr/>
          <p:nvPr/>
        </p:nvSpPr>
        <p:spPr>
          <a:xfrm>
            <a:off x="36576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SalesCaptureService 売上確定取込</a:t>
            </a:r>
          </a:p>
        </p:txBody>
      </p:sp>
      <p:sp>
        <p:nvSpPr>
          <p:cNvPr id="4" name="Rectangle 3"/>
          <p:cNvSpPr/>
          <p:nvPr/>
        </p:nvSpPr>
        <p:spPr>
          <a:xfrm>
            <a:off x="251460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mipay_settle 加盟店精算ネッティング</a:t>
            </a:r>
          </a:p>
        </p:txBody>
      </p:sp>
      <p:sp>
        <p:nvSpPr>
          <p:cNvPr id="5" name="Rectangle 4"/>
          <p:cNvSpPr/>
          <p:nvPr/>
        </p:nvSpPr>
        <p:spPr>
          <a:xfrm>
            <a:off x="466344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PSSETF 精算結果</a:t>
            </a:r>
          </a:p>
        </p:txBody>
      </p:sp>
      <p:sp>
        <p:nvSpPr>
          <p:cNvPr id="6" name="Rectangle 5"/>
          <p:cNvSpPr/>
          <p:nvPr/>
        </p:nvSpPr>
        <p:spPr>
          <a:xfrm>
            <a:off x="6812279"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TransferFileService 振込ファイル生成</a:t>
            </a:r>
          </a:p>
        </p:txBody>
      </p:sp>
      <p:sp>
        <p:nvSpPr>
          <p:cNvPr id="7" name="TextBox 6"/>
          <p:cNvSpPr txBox="1"/>
          <p:nvPr/>
        </p:nvSpPr>
        <p:spPr>
          <a:xfrm>
            <a:off x="457200" y="3108960"/>
            <a:ext cx="8229600" cy="2103120"/>
          </a:xfrm>
          <a:prstGeom prst="rect">
            <a:avLst/>
          </a:prstGeom>
          <a:noFill/>
        </p:spPr>
        <p:txBody>
          <a:bodyPr wrap="square">
            <a:spAutoFit/>
          </a:bodyPr>
          <a:lstStyle/>
          <a:p>
            <a:pPr>
              <a:defRPr sz="1300"/>
            </a:pPr>
            <a:r>
              <a:t>・PSTXNF の売上確定データを日次で取込み、加盟店単位の精算対象を抽出</a:t>
            </a:r>
          </a:p>
          <a:p>
            <a:pPr>
              <a:defRPr sz="1300"/>
            </a:pPr>
            <a:r>
              <a:t>・mipay_settle は PSMERF の加盟店属性・精算条件を参照し、日次ネッティング結果を生成</a:t>
            </a:r>
          </a:p>
          <a:p>
            <a:pPr>
              <a:defRPr sz="1300"/>
            </a:pPr>
            <a:r>
              <a:t>・精算結果は PSSETF に保持し、後続の TransferFileService が振込ファイルを生成</a:t>
            </a:r>
          </a:p>
          <a:p>
            <a:pPr>
              <a:defRPr sz="1300"/>
            </a:pPr>
            <a:r>
              <a:t>・決済処理手数料は 0.30% とし、支払額は非操作的な定義として net から手数料を差し引く。端数処理の詳細は実装に従う</a:t>
            </a:r>
          </a:p>
        </p:txBody>
      </p:sp>
      <p:sp>
        <p:nvSpPr>
          <p:cNvPr id="8" name="TextBox 7"/>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(案)    社外秘    3 /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000" b="1">
                <a:solidFill>
                  <a:srgbClr val="2C5AA0"/>
                </a:solidFill>
              </a:defRPr>
            </a:pPr>
            <a:r>
              <a:t>指摘事項一覧</a:t>
            </a:r>
          </a:p>
        </p:txBody>
      </p:sp>
      <p:graphicFrame>
        <p:nvGraphicFramePr>
          <p:cNvPr id="3" name="Table 2"/>
          <p:cNvGraphicFramePr>
            <a:graphicFrameLocks noGrp="1"/>
          </p:cNvGraphicFramePr>
          <p:nvPr/>
        </p:nvGraphicFramePr>
        <p:xfrm>
          <a:off x="274320" y="914400"/>
          <a:ext cx="8595360" cy="2286000"/>
        </p:xfrm>
        <a:graphic>
          <a:graphicData uri="http://schemas.openxmlformats.org/drawingml/2006/table">
            <a:tbl>
              <a:tblPr firstRow="1" bandRow="1">
                <a:tableStyleId>{5C22544A-7EE6-4342-B048-85BDC9FD1C3A}</a:tableStyleId>
              </a:tblPr>
              <a:tblGrid>
                <a:gridCol w="457200"/>
                <a:gridCol w="822960"/>
                <a:gridCol w="3291840"/>
                <a:gridCol w="731520"/>
                <a:gridCol w="1828800"/>
                <a:gridCol w="822960"/>
                <a:gridCol w="640080"/>
              </a:tblGrid>
              <a:tr h="457200">
                <a:tc>
                  <a:txBody>
                    <a:bodyPr/>
                    <a:lstStyle/>
                    <a:p>
                      <a:pPr>
                        <a:defRPr sz="900" b="1"/>
                      </a:pPr>
                      <a:r>
                        <a:t>No.</a:t>
                      </a:r>
                    </a:p>
                  </a:txBody>
                  <a:tcPr>
                    <a:solidFill>
                      <a:srgbClr val="DFE6EF"/>
                    </a:solidFill>
                  </a:tcPr>
                </a:tc>
                <a:tc>
                  <a:txBody>
                    <a:bodyPr/>
                    <a:lstStyle/>
                    <a:p>
                      <a:pPr>
                        <a:defRPr sz="900" b="1"/>
                      </a:pPr>
                      <a:r>
                        <a:t>区分</a:t>
                      </a:r>
                    </a:p>
                  </a:txBody>
                  <a:tcPr>
                    <a:solidFill>
                      <a:srgbClr val="DFE6EF"/>
                    </a:solidFill>
                  </a:tcPr>
                </a:tc>
                <a:tc>
                  <a:txBody>
                    <a:bodyPr/>
                    <a:lstStyle/>
                    <a:p>
                      <a:pPr>
                        <a:defRPr sz="900" b="1"/>
                      </a:pPr>
                      <a:r>
                        <a:t>指摘内容</a:t>
                      </a:r>
                    </a:p>
                  </a:txBody>
                  <a:tcPr>
                    <a:solidFill>
                      <a:srgbClr val="DFE6EF"/>
                    </a:solidFill>
                  </a:tcPr>
                </a:tc>
                <a:tc>
                  <a:txBody>
                    <a:bodyPr/>
                    <a:lstStyle/>
                    <a:p>
                      <a:pPr>
                        <a:defRPr sz="900" b="1"/>
                      </a:pPr>
                      <a:r>
                        <a:t>重要度</a:t>
                      </a:r>
                    </a:p>
                  </a:txBody>
                  <a:tcPr>
                    <a:solidFill>
                      <a:srgbClr val="DFE6EF"/>
                    </a:solidFill>
                  </a:tcPr>
                </a:tc>
                <a:tc>
                  <a:txBody>
                    <a:bodyPr/>
                    <a:lstStyle/>
                    <a:p>
                      <a:pPr>
                        <a:defRPr sz="900" b="1"/>
                      </a:pPr>
                      <a:r>
                        <a:t>対応方針</a:t>
                      </a:r>
                    </a:p>
                  </a:txBody>
                  <a:tcPr>
                    <a:solidFill>
                      <a:srgbClr val="DFE6EF"/>
                    </a:solidFill>
                  </a:tcPr>
                </a:tc>
                <a:tc>
                  <a:txBody>
                    <a:bodyPr/>
                    <a:lstStyle/>
                    <a:p>
                      <a:pPr>
                        <a:defRPr sz="900" b="1"/>
                      </a:pPr>
                      <a:r>
                        <a:t>担当</a:t>
                      </a:r>
                    </a:p>
                  </a:txBody>
                  <a:tcPr>
                    <a:solidFill>
                      <a:srgbClr val="DFE6EF"/>
                    </a:solidFill>
                  </a:tcPr>
                </a:tc>
                <a:tc>
                  <a:txBody>
                    <a:bodyPr/>
                    <a:lstStyle/>
                    <a:p>
                      <a:pPr>
                        <a:defRPr sz="900" b="1"/>
                      </a:pPr>
                      <a:r>
                        <a:t>状態</a:t>
                      </a:r>
                    </a:p>
                  </a:txBody>
                  <a:tcPr>
                    <a:solidFill>
                      <a:srgbClr val="DFE6EF"/>
                    </a:solidFill>
                  </a:tcPr>
                </a:tc>
              </a:tr>
              <a:tr h="457200">
                <a:tc>
                  <a:txBody>
                    <a:bodyPr/>
                    <a:lstStyle/>
                    <a:p>
                      <a:pPr>
                        <a:defRPr sz="800"/>
                      </a:pPr>
                      <a:r>
                        <a:t>1</a:t>
                      </a:r>
                    </a:p>
                  </a:txBody>
                  <a:tcPr/>
                </a:tc>
                <a:tc>
                  <a:txBody>
                    <a:bodyPr/>
                    <a:lstStyle/>
                    <a:p>
                      <a:pPr>
                        <a:defRPr sz="800"/>
                      </a:pPr>
                      <a:r>
                        <a:t>整合性</a:t>
                      </a:r>
                    </a:p>
                  </a:txBody>
                  <a:tcPr/>
                </a:tc>
                <a:tc>
                  <a:txBody>
                    <a:bodyPr/>
                    <a:lstStyle/>
                    <a:p>
                      <a:pPr>
                        <a:defRPr sz="800"/>
                      </a:pPr>
                      <a:r>
                        <a:t>PSTXNF 取込時の再実行条件と mipay_settle 側の二重計上防止条件が別資料参照となっており、障害時の運用判断が読み取りにくい</a:t>
                      </a:r>
                    </a:p>
                  </a:txBody>
                  <a:tcPr/>
                </a:tc>
                <a:tc>
                  <a:txBody>
                    <a:bodyPr/>
                    <a:lstStyle/>
                    <a:p>
                      <a:pPr>
                        <a:defRPr sz="800"/>
                      </a:pPr>
                      <a:r>
                        <a:t>高</a:t>
                      </a:r>
                    </a:p>
                  </a:txBody>
                  <a:tcPr/>
                </a:tc>
                <a:tc>
                  <a:txBody>
                    <a:bodyPr/>
                    <a:lstStyle/>
                    <a:p>
                      <a:pPr>
                        <a:defRPr sz="800"/>
                      </a:pPr>
                      <a:r>
                        <a:t>再実行時は取込日・加盟店ID・取引IDで重複排除する前提を運用手順書へ追記</a:t>
                      </a:r>
                    </a:p>
                  </a:txBody>
                  <a:tcPr/>
                </a:tc>
                <a:tc>
                  <a:txBody>
                    <a:bodyPr/>
                    <a:lstStyle/>
                    <a:p>
                      <a:pPr>
                        <a:defRPr sz="800"/>
                      </a:pPr>
                      <a:r>
                        <a:t>佐伯 千尋</a:t>
                      </a:r>
                    </a:p>
                  </a:txBody>
                  <a:tcPr/>
                </a:tc>
                <a:tc>
                  <a:txBody>
                    <a:bodyPr/>
                    <a:lstStyle/>
                    <a:p>
                      <a:pPr>
                        <a:defRPr sz="800">
                          <a:solidFill>
                            <a:srgbClr val="C0392B"/>
                          </a:solidFill>
                        </a:defRPr>
                      </a:pPr>
                      <a:r>
                        <a:t>未対応</a:t>
                      </a:r>
                    </a:p>
                  </a:txBody>
                  <a:tcPr/>
                </a:tc>
              </a:tr>
              <a:tr h="457200">
                <a:tc>
                  <a:txBody>
                    <a:bodyPr/>
                    <a:lstStyle/>
                    <a:p>
                      <a:pPr>
                        <a:defRPr sz="800"/>
                      </a:pPr>
                      <a:r>
                        <a:t>2</a:t>
                      </a:r>
                    </a:p>
                  </a:txBody>
                  <a:tcPr/>
                </a:tc>
                <a:tc>
                  <a:txBody>
                    <a:bodyPr/>
                    <a:lstStyle/>
                    <a:p>
                      <a:pPr>
                        <a:defRPr sz="800"/>
                      </a:pPr>
                      <a:r>
                        <a:t>非機能</a:t>
                      </a:r>
                    </a:p>
                  </a:txBody>
                  <a:tcPr/>
                </a:tc>
                <a:tc>
                  <a:txBody>
                    <a:bodyPr/>
                    <a:lstStyle/>
                    <a:p>
                      <a:pPr>
                        <a:defRPr sz="800"/>
                      </a:pPr>
                      <a:r>
                        <a:t>月末営業日の PSTXNF 件数増加に対する mipay_settle の処理時間見積りが令和5年度ピーク実績ベースのまま更新されていない</a:t>
                      </a:r>
                    </a:p>
                  </a:txBody>
                  <a:tcPr/>
                </a:tc>
                <a:tc>
                  <a:txBody>
                    <a:bodyPr/>
                    <a:lstStyle/>
                    <a:p>
                      <a:pPr>
                        <a:defRPr sz="800"/>
                      </a:pPr>
                      <a:r>
                        <a:t>中</a:t>
                      </a:r>
                    </a:p>
                  </a:txBody>
                  <a:tcPr/>
                </a:tc>
                <a:tc>
                  <a:txBody>
                    <a:bodyPr/>
                    <a:lstStyle/>
                    <a:p>
                      <a:pPr>
                        <a:defRPr sz="800"/>
                      </a:pPr>
                      <a:r>
                        <a:t>令和6年8月実績を用いてバッチ許容時間内に収まることを再評価</a:t>
                      </a:r>
                    </a:p>
                  </a:txBody>
                  <a:tcPr/>
                </a:tc>
                <a:tc>
                  <a:txBody>
                    <a:bodyPr/>
                    <a:lstStyle/>
                    <a:p>
                      <a:pPr>
                        <a:defRPr sz="800"/>
                      </a:pPr>
                      <a:r>
                        <a:t>森川 直人</a:t>
                      </a:r>
                    </a:p>
                  </a:txBody>
                  <a:tcPr/>
                </a:tc>
                <a:tc>
                  <a:txBody>
                    <a:bodyPr/>
                    <a:lstStyle/>
                    <a:p>
                      <a:pPr>
                        <a:defRPr sz="800"/>
                      </a:pPr>
                      <a:r>
                        <a:t>対応中</a:t>
                      </a:r>
                    </a:p>
                  </a:txBody>
                  <a:tcPr/>
                </a:tc>
              </a:tr>
              <a:tr h="457200">
                <a:tc>
                  <a:txBody>
                    <a:bodyPr/>
                    <a:lstStyle/>
                    <a:p>
                      <a:pPr>
                        <a:defRPr sz="800"/>
                      </a:pPr>
                      <a:r>
                        <a:t>3</a:t>
                      </a:r>
                    </a:p>
                  </a:txBody>
                  <a:tcPr/>
                </a:tc>
                <a:tc>
                  <a:txBody>
                    <a:bodyPr/>
                    <a:lstStyle/>
                    <a:p>
                      <a:pPr>
                        <a:defRPr sz="800"/>
                      </a:pPr>
                      <a:r>
                        <a:t>運用性</a:t>
                      </a:r>
                    </a:p>
                  </a:txBody>
                  <a:tcPr/>
                </a:tc>
                <a:tc>
                  <a:txBody>
                    <a:bodyPr/>
                    <a:lstStyle/>
                    <a:p>
                      <a:pPr>
                        <a:defRPr sz="800"/>
                      </a:pPr>
                      <a:r>
                        <a:t>PSMERF の加盟店口座変更が精算日前日に反映された場合の確認観点がレビュー資料上で明示されていない</a:t>
                      </a:r>
                    </a:p>
                  </a:txBody>
                  <a:tcPr/>
                </a:tc>
                <a:tc>
                  <a:txBody>
                    <a:bodyPr/>
                    <a:lstStyle/>
                    <a:p>
                      <a:pPr>
                        <a:defRPr sz="800"/>
                      </a:pPr>
                      <a:r>
                        <a:t>B</a:t>
                      </a:r>
                    </a:p>
                  </a:txBody>
                  <a:tcPr/>
                </a:tc>
                <a:tc>
                  <a:txBody>
                    <a:bodyPr/>
                    <a:lstStyle/>
                    <a:p>
                      <a:pPr>
                        <a:defRPr sz="800"/>
                      </a:pPr>
                      <a:r>
                        <a:t>(案) 口座変更締め時刻と PSSETF 作成時刻の関係を運用チェックリストに追加。今回スコープ外</a:t>
                      </a:r>
                    </a:p>
                  </a:txBody>
                  <a:tcPr/>
                </a:tc>
                <a:tc>
                  <a:txBody>
                    <a:bodyPr/>
                    <a:lstStyle/>
                    <a:p>
                      <a:pPr>
                        <a:defRPr sz="800"/>
                      </a:pPr>
                      <a:r>
                        <a:t>長谷川 真理</a:t>
                      </a:r>
                    </a:p>
                  </a:txBody>
                  <a:tcPr/>
                </a:tc>
                <a:tc>
                  <a:txBody>
                    <a:bodyPr/>
                    <a:lstStyle/>
                    <a:p>
                      <a:pPr>
                        <a:defRPr sz="800">
                          <a:solidFill>
                            <a:srgbClr val="C0392B"/>
                          </a:solidFill>
                        </a:defRPr>
                      </a:pPr>
                      <a:r>
                        <a:t>未対応</a:t>
                      </a:r>
                    </a:p>
                  </a:txBody>
                  <a:tcPr/>
                </a:tc>
              </a:tr>
              <a:tr h="457200">
                <a:tc>
                  <a:txBody>
                    <a:bodyPr/>
                    <a:lstStyle/>
                    <a:p>
                      <a:pPr>
                        <a:defRPr sz="800"/>
                      </a:pPr>
                      <a:r>
                        <a:t>4</a:t>
                      </a:r>
                    </a:p>
                  </a:txBody>
                  <a:tcPr/>
                </a:tc>
                <a:tc>
                  <a:txBody>
                    <a:bodyPr/>
                    <a:lstStyle/>
                    <a:p>
                      <a:pPr>
                        <a:defRPr sz="800"/>
                      </a:pPr>
                      <a:r>
                        <a:t>標準準拠</a:t>
                      </a:r>
                    </a:p>
                  </a:txBody>
                  <a:tcPr/>
                </a:tc>
                <a:tc>
                  <a:txBody>
                    <a:bodyPr/>
                    <a:lstStyle/>
                    <a:p>
                      <a:pPr>
                        <a:defRPr sz="800"/>
                      </a:pPr>
                      <a:r>
                        <a:t>TransferFileService の出力ファイル名規約がみらいフィナンシャルグループ共通の送金連携標準と一部表記ゆれしている</a:t>
                      </a:r>
                    </a:p>
                  </a:txBody>
                  <a:tcPr/>
                </a:tc>
                <a:tc>
                  <a:txBody>
                    <a:bodyPr/>
                    <a:lstStyle/>
                    <a:p>
                      <a:pPr>
                        <a:defRPr sz="800"/>
                      </a:pPr>
                      <a:r>
                        <a:t>中</a:t>
                      </a:r>
                    </a:p>
                  </a:txBody>
                  <a:tcPr/>
                </a:tc>
                <a:tc>
                  <a:txBody>
                    <a:bodyPr/>
                    <a:lstStyle/>
                    <a:p>
                      <a:pPr>
                        <a:defRPr sz="800"/>
                      </a:pPr>
                      <a:r>
                        <a:t>振込日・作成連番・環境識別子の並びを共通標準へ合わせ、レビュー後に設計書へ反映</a:t>
                      </a:r>
                    </a:p>
                  </a:txBody>
                  <a:tcPr/>
                </a:tc>
                <a:tc>
                  <a:txBody>
                    <a:bodyPr/>
                    <a:lstStyle/>
                    <a:p>
                      <a:pPr>
                        <a:defRPr sz="800"/>
                      </a:pPr>
                      <a:r>
                        <a:t>佐伯 千尋</a:t>
                      </a:r>
                    </a:p>
                  </a:txBody>
                  <a:tcPr/>
                </a:tc>
                <a:tc>
                  <a:txBody>
                    <a:bodyPr/>
                    <a:lstStyle/>
                    <a:p>
                      <a:pPr>
                        <a:defRPr sz="800"/>
                      </a:pPr>
                      <a:r>
                        <a:t>対応中</a:t>
                      </a:r>
                    </a:p>
                  </a:txBody>
                  <a:tcPr/>
                </a:tc>
              </a:tr>
            </a:tbl>
          </a:graphicData>
        </a:graphic>
      </p:graphicFrame>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(案)    社外秘    4 /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