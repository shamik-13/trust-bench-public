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463040"/>
            <a:ext cx="7680960" cy="2011680"/>
          </a:xfrm>
          <a:prstGeom prst="rect">
            <a:avLst/>
          </a:prstGeom>
          <a:noFill/>
        </p:spPr>
        <p:txBody>
          <a:bodyPr wrap="square">
            <a:spAutoFit/>
          </a:bodyPr>
          <a:lstStyle/>
          <a:p>
            <a:pPr>
              <a:defRPr sz="2800" b="1">
                <a:solidFill>
                  <a:srgbClr val="2C5AA0"/>
                </a:solidFill>
              </a:defRPr>
            </a:pPr>
            <a:r>
              <a:t>与信→精算 連携基盤 アーキテクチャ概要レビュー資料</a:t>
            </a:r>
          </a:p>
          <a:p>
            <a:pPr>
              <a:defRPr sz="1600"/>
            </a:pPr>
            <a:r>
              <a:t>売上確定リンクから精算ネットまでの処理境界・運用観点の確認 (MP-2409-18)</a:t>
            </a:r>
          </a:p>
          <a:p>
            <a:pPr>
              <a:defRPr sz="1200"/>
            </a:pPr>
            <a:r>
              <a:t>みらいペイ 決済・精算連携基盤</a:t>
            </a:r>
          </a:p>
          <a:p>
            <a:pPr>
              <a:defRPr sz="1200"/>
            </a:pPr>
            <a:r>
              <a:t>アーキテクチャ概要レビュー</a:t>
            </a:r>
          </a:p>
          <a:p>
            <a:pPr>
              <a:defRPr sz="1200"/>
            </a:pPr>
            <a:r>
              <a:t>発表: 杉浦 直人 (MP-143)</a:t>
            </a:r>
          </a:p>
          <a:p>
            <a:pPr>
              <a:defRPr sz="1200"/>
            </a:pPr>
            <a:r>
              <a:t>令和6年9月18日</a:t>
            </a:r>
          </a:p>
        </p:txBody>
      </p:sp>
      <p:sp>
        <p:nvSpPr>
          <p:cNvPr id="3" name="TextBox 2"/>
          <p:cNvSpPr txBox="1"/>
          <p:nvPr/>
        </p:nvSpPr>
        <p:spPr>
          <a:xfrm>
            <a:off x="6949440" y="274320"/>
            <a:ext cx="1828800" cy="457200"/>
          </a:xfrm>
          <a:prstGeom prst="rect">
            <a:avLst/>
          </a:prstGeom>
          <a:noFill/>
        </p:spPr>
        <p:txBody>
          <a:bodyPr wrap="none">
            <a:spAutoFit/>
          </a:bodyPr>
          <a:lstStyle/>
          <a:p>
            <a:pPr algn="r">
              <a:defRPr sz="1200">
                <a:solidFill>
                  <a:srgbClr val="C0392B"/>
                </a:solidFill>
              </a:defRPr>
            </a:pPr>
            <a:r>
              <a:t>社内限り / v1.2 (レビュー版)</a:t>
            </a:r>
          </a:p>
        </p:txBody>
      </p:sp>
      <p:sp>
        <p:nvSpPr>
          <p:cNvPr id="4" name="TextBox 3"/>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(レビュー版)    社外秘    1 /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200" b="1">
                <a:solidFill>
                  <a:srgbClr val="2C5AA0"/>
                </a:solidFill>
              </a:defRPr>
            </a:pPr>
            <a:r>
              <a:t>アジェンダ</a:t>
            </a:r>
          </a:p>
        </p:txBody>
      </p:sp>
      <p:sp>
        <p:nvSpPr>
          <p:cNvPr id="3" name="TextBox 2"/>
          <p:cNvSpPr txBox="1"/>
          <p:nvPr/>
        </p:nvSpPr>
        <p:spPr>
          <a:xfrm>
            <a:off x="640080" y="1188720"/>
            <a:ext cx="7863840" cy="3657600"/>
          </a:xfrm>
          <a:prstGeom prst="rect">
            <a:avLst/>
          </a:prstGeom>
          <a:noFill/>
        </p:spPr>
        <p:txBody>
          <a:bodyPr wrap="square">
            <a:spAutoFit/>
          </a:bodyPr>
          <a:lstStyle/>
          <a:p>
            <a:pPr>
              <a:defRPr sz="1600"/>
            </a:pPr>
            <a:r>
              <a:t>・1. レビュー目的・対象範囲</a:t>
            </a:r>
          </a:p>
          <a:p>
            <a:pPr>
              <a:defRPr sz="1600"/>
            </a:pPr>
            <a:r>
              <a:t>・2. 売上確定リンク (CaptureLinkService) の概要</a:t>
            </a:r>
          </a:p>
          <a:p>
            <a:pPr>
              <a:defRPr sz="1600"/>
            </a:pPr>
            <a:r>
              <a:t>・3. 精算明細・精算ネット (mipay_nettrace) の処理配置</a:t>
            </a:r>
          </a:p>
          <a:p>
            <a:pPr>
              <a:defRPr sz="1600"/>
            </a:pPr>
            <a:r>
              <a:t>・4. 非機能・運用観点</a:t>
            </a:r>
          </a:p>
          <a:p>
            <a:pPr>
              <a:defRPr sz="1600"/>
            </a:pPr>
            <a:r>
              <a:t>・5. 指摘事項一覧</a:t>
            </a:r>
          </a:p>
        </p:txBody>
      </p:sp>
      <p:sp>
        <p:nvSpPr>
          <p:cNvPr id="4" name="TextBox 3"/>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(レビュー版)    社外秘    2 / 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000" b="1">
                <a:solidFill>
                  <a:srgbClr val="2C5AA0"/>
                </a:solidFill>
              </a:defRPr>
            </a:pPr>
            <a:r>
              <a:t>設計概要 — 処理フロー (図1)</a:t>
            </a:r>
          </a:p>
        </p:txBody>
      </p:sp>
      <p:sp>
        <p:nvSpPr>
          <p:cNvPr id="3" name="Rectangle 2"/>
          <p:cNvSpPr/>
          <p:nvPr/>
        </p:nvSpPr>
        <p:spPr>
          <a:xfrm>
            <a:off x="365760"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CaptureLinkService 売上確定リンク生成</a:t>
            </a:r>
          </a:p>
        </p:txBody>
      </p:sp>
      <p:sp>
        <p:nvSpPr>
          <p:cNvPr id="4" name="Rectangle 3"/>
          <p:cNvSpPr/>
          <p:nvPr/>
        </p:nvSpPr>
        <p:spPr>
          <a:xfrm>
            <a:off x="2514600"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PTCAPF 売上確定データ</a:t>
            </a:r>
          </a:p>
        </p:txBody>
      </p:sp>
      <p:sp>
        <p:nvSpPr>
          <p:cNvPr id="5" name="Rectangle 4"/>
          <p:cNvSpPr/>
          <p:nvPr/>
        </p:nvSpPr>
        <p:spPr>
          <a:xfrm>
            <a:off x="4663440"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PTSETF 精算明細データ</a:t>
            </a:r>
          </a:p>
        </p:txBody>
      </p:sp>
      <p:sp>
        <p:nvSpPr>
          <p:cNvPr id="6" name="Rectangle 5"/>
          <p:cNvSpPr/>
          <p:nvPr/>
        </p:nvSpPr>
        <p:spPr>
          <a:xfrm>
            <a:off x="6812279"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mipay_nettrace 精算ネット処理</a:t>
            </a:r>
          </a:p>
        </p:txBody>
      </p:sp>
      <p:sp>
        <p:nvSpPr>
          <p:cNvPr id="7" name="TextBox 6"/>
          <p:cNvSpPr txBox="1"/>
          <p:nvPr/>
        </p:nvSpPr>
        <p:spPr>
          <a:xfrm>
            <a:off x="457200" y="3108960"/>
            <a:ext cx="8229600" cy="2103120"/>
          </a:xfrm>
          <a:prstGeom prst="rect">
            <a:avLst/>
          </a:prstGeom>
          <a:noFill/>
        </p:spPr>
        <p:txBody>
          <a:bodyPr wrap="square">
            <a:spAutoFit/>
          </a:bodyPr>
          <a:lstStyle/>
          <a:p>
            <a:pPr>
              <a:defRPr sz="1300"/>
            </a:pPr>
            <a:r>
              <a:t>・CaptureLinkService は売上確定結果をもとに売上確定リンクを生成し、後続の精算明細作成へ引き渡す</a:t>
            </a:r>
          </a:p>
          <a:p>
            <a:pPr>
              <a:defRPr sz="1300"/>
            </a:pPr>
            <a:r>
              <a:t>・PTHOLDF/PTCAPF/PTSETF は与信保持、売上確定、精算関連の状態を保持する主要データセットとして扱う</a:t>
            </a:r>
          </a:p>
          <a:p>
            <a:pPr>
              <a:defRPr sz="1300"/>
            </a:pPr>
            <a:r>
              <a:t>・mipay_nettrace は精算側で加盟店単位の精算ネット処理を担い、日次締め後の照合・再実行を運用手順で管理する</a:t>
            </a:r>
          </a:p>
          <a:p>
            <a:pPr>
              <a:defRPr sz="1300"/>
            </a:pPr>
            <a:r>
              <a:t>・連携キーの導出規則および精算区分の計上規則は本資料の設計論点外とし、実装に従う</a:t>
            </a:r>
          </a:p>
        </p:txBody>
      </p:sp>
      <p:sp>
        <p:nvSpPr>
          <p:cNvPr id="8" name="TextBox 7"/>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(レビュー版)    社外秘    3 /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000" b="1">
                <a:solidFill>
                  <a:srgbClr val="2C5AA0"/>
                </a:solidFill>
              </a:defRPr>
            </a:pPr>
            <a:r>
              <a:t>指摘事項一覧</a:t>
            </a:r>
          </a:p>
        </p:txBody>
      </p:sp>
      <p:graphicFrame>
        <p:nvGraphicFramePr>
          <p:cNvPr id="3" name="Table 2"/>
          <p:cNvGraphicFramePr>
            <a:graphicFrameLocks noGrp="1"/>
          </p:cNvGraphicFramePr>
          <p:nvPr/>
        </p:nvGraphicFramePr>
        <p:xfrm>
          <a:off x="274320" y="914400"/>
          <a:ext cx="8595360" cy="2286000"/>
        </p:xfrm>
        <a:graphic>
          <a:graphicData uri="http://schemas.openxmlformats.org/drawingml/2006/table">
            <a:tbl>
              <a:tblPr firstRow="1" bandRow="1">
                <a:tableStyleId>{5C22544A-7EE6-4342-B048-85BDC9FD1C3A}</a:tableStyleId>
              </a:tblPr>
              <a:tblGrid>
                <a:gridCol w="457200"/>
                <a:gridCol w="822960"/>
                <a:gridCol w="3291840"/>
                <a:gridCol w="731520"/>
                <a:gridCol w="1828800"/>
                <a:gridCol w="822960"/>
                <a:gridCol w="640080"/>
              </a:tblGrid>
              <a:tr h="457200">
                <a:tc>
                  <a:txBody>
                    <a:bodyPr/>
                    <a:lstStyle/>
                    <a:p>
                      <a:pPr>
                        <a:defRPr sz="900" b="1"/>
                      </a:pPr>
                      <a:r>
                        <a:t>No.</a:t>
                      </a:r>
                    </a:p>
                  </a:txBody>
                  <a:tcPr>
                    <a:solidFill>
                      <a:srgbClr val="DFE6EF"/>
                    </a:solidFill>
                  </a:tcPr>
                </a:tc>
                <a:tc>
                  <a:txBody>
                    <a:bodyPr/>
                    <a:lstStyle/>
                    <a:p>
                      <a:pPr>
                        <a:defRPr sz="900" b="1"/>
                      </a:pPr>
                      <a:r>
                        <a:t>区分</a:t>
                      </a:r>
                    </a:p>
                  </a:txBody>
                  <a:tcPr>
                    <a:solidFill>
                      <a:srgbClr val="DFE6EF"/>
                    </a:solidFill>
                  </a:tcPr>
                </a:tc>
                <a:tc>
                  <a:txBody>
                    <a:bodyPr/>
                    <a:lstStyle/>
                    <a:p>
                      <a:pPr>
                        <a:defRPr sz="900" b="1"/>
                      </a:pPr>
                      <a:r>
                        <a:t>指摘内容</a:t>
                      </a:r>
                    </a:p>
                  </a:txBody>
                  <a:tcPr>
                    <a:solidFill>
                      <a:srgbClr val="DFE6EF"/>
                    </a:solidFill>
                  </a:tcPr>
                </a:tc>
                <a:tc>
                  <a:txBody>
                    <a:bodyPr/>
                    <a:lstStyle/>
                    <a:p>
                      <a:pPr>
                        <a:defRPr sz="900" b="1"/>
                      </a:pPr>
                      <a:r>
                        <a:t>重要度</a:t>
                      </a:r>
                    </a:p>
                  </a:txBody>
                  <a:tcPr>
                    <a:solidFill>
                      <a:srgbClr val="DFE6EF"/>
                    </a:solidFill>
                  </a:tcPr>
                </a:tc>
                <a:tc>
                  <a:txBody>
                    <a:bodyPr/>
                    <a:lstStyle/>
                    <a:p>
                      <a:pPr>
                        <a:defRPr sz="900" b="1"/>
                      </a:pPr>
                      <a:r>
                        <a:t>対応方針</a:t>
                      </a:r>
                    </a:p>
                  </a:txBody>
                  <a:tcPr>
                    <a:solidFill>
                      <a:srgbClr val="DFE6EF"/>
                    </a:solidFill>
                  </a:tcPr>
                </a:tc>
                <a:tc>
                  <a:txBody>
                    <a:bodyPr/>
                    <a:lstStyle/>
                    <a:p>
                      <a:pPr>
                        <a:defRPr sz="900" b="1"/>
                      </a:pPr>
                      <a:r>
                        <a:t>担当</a:t>
                      </a:r>
                    </a:p>
                  </a:txBody>
                  <a:tcPr>
                    <a:solidFill>
                      <a:srgbClr val="DFE6EF"/>
                    </a:solidFill>
                  </a:tcPr>
                </a:tc>
                <a:tc>
                  <a:txBody>
                    <a:bodyPr/>
                    <a:lstStyle/>
                    <a:p>
                      <a:pPr>
                        <a:defRPr sz="900" b="1"/>
                      </a:pPr>
                      <a:r>
                        <a:t>状態</a:t>
                      </a:r>
                    </a:p>
                  </a:txBody>
                  <a:tcPr>
                    <a:solidFill>
                      <a:srgbClr val="DFE6EF"/>
                    </a:solidFill>
                  </a:tcPr>
                </a:tc>
              </a:tr>
              <a:tr h="457200">
                <a:tc>
                  <a:txBody>
                    <a:bodyPr/>
                    <a:lstStyle/>
                    <a:p>
                      <a:pPr>
                        <a:defRPr sz="800"/>
                      </a:pPr>
                      <a:r>
                        <a:t>1</a:t>
                      </a:r>
                    </a:p>
                  </a:txBody>
                  <a:tcPr/>
                </a:tc>
                <a:tc>
                  <a:txBody>
                    <a:bodyPr/>
                    <a:lstStyle/>
                    <a:p>
                      <a:pPr>
                        <a:defRPr sz="800"/>
                      </a:pPr>
                      <a:r>
                        <a:t>運用性</a:t>
                      </a:r>
                    </a:p>
                  </a:txBody>
                  <a:tcPr/>
                </a:tc>
                <a:tc>
                  <a:txBody>
                    <a:bodyPr/>
                    <a:lstStyle/>
                    <a:p>
                      <a:pPr>
                        <a:defRPr sz="800"/>
                      </a:pPr>
                      <a:r>
                        <a:t>CaptureLinkService のリトライ後に作成済み売上確定リンクを識別する運用確認手順が本文に分散しており、障害時の一次切り分けに時間を要する</a:t>
                      </a:r>
                    </a:p>
                  </a:txBody>
                  <a:tcPr/>
                </a:tc>
                <a:tc>
                  <a:txBody>
                    <a:bodyPr/>
                    <a:lstStyle/>
                    <a:p>
                      <a:pPr>
                        <a:defRPr sz="800"/>
                      </a:pPr>
                      <a:r>
                        <a:t>高</a:t>
                      </a:r>
                    </a:p>
                  </a:txBody>
                  <a:tcPr/>
                </a:tc>
                <a:tc>
                  <a:txBody>
                    <a:bodyPr/>
                    <a:lstStyle/>
                    <a:p>
                      <a:pPr>
                        <a:defRPr sz="800"/>
                      </a:pPr>
                      <a:r>
                        <a:t>運用章に再実行時の確認順序を集約し、PTHOLDF/PTCAPF/PTSETF の参照観点を追記</a:t>
                      </a:r>
                    </a:p>
                  </a:txBody>
                  <a:tcPr/>
                </a:tc>
                <a:tc>
                  <a:txBody>
                    <a:bodyPr/>
                    <a:lstStyle/>
                    <a:p>
                      <a:pPr>
                        <a:defRPr sz="800"/>
                      </a:pPr>
                      <a:r>
                        <a:t>杉浦 直人</a:t>
                      </a:r>
                    </a:p>
                  </a:txBody>
                  <a:tcPr/>
                </a:tc>
                <a:tc>
                  <a:txBody>
                    <a:bodyPr/>
                    <a:lstStyle/>
                    <a:p>
                      <a:pPr>
                        <a:defRPr sz="800"/>
                      </a:pPr>
                      <a:r>
                        <a:t>対応中</a:t>
                      </a:r>
                    </a:p>
                  </a:txBody>
                  <a:tcPr/>
                </a:tc>
              </a:tr>
              <a:tr h="457200">
                <a:tc>
                  <a:txBody>
                    <a:bodyPr/>
                    <a:lstStyle/>
                    <a:p>
                      <a:pPr>
                        <a:defRPr sz="800"/>
                      </a:pPr>
                      <a:r>
                        <a:t>2</a:t>
                      </a:r>
                    </a:p>
                  </a:txBody>
                  <a:tcPr/>
                </a:tc>
                <a:tc>
                  <a:txBody>
                    <a:bodyPr/>
                    <a:lstStyle/>
                    <a:p>
                      <a:pPr>
                        <a:defRPr sz="800"/>
                      </a:pPr>
                      <a:r>
                        <a:t>非機能</a:t>
                      </a:r>
                    </a:p>
                  </a:txBody>
                  <a:tcPr/>
                </a:tc>
                <a:tc>
                  <a:txBody>
                    <a:bodyPr/>
                    <a:lstStyle/>
                    <a:p>
                      <a:pPr>
                        <a:defRPr sz="800"/>
                      </a:pPr>
                      <a:r>
                        <a:t>日次締め後の mipay_nettrace 実行時間見積りが通常日の件数前提のみで、キャンペーン翌営業日の増加を考慮していない</a:t>
                      </a:r>
                    </a:p>
                  </a:txBody>
                  <a:tcPr/>
                </a:tc>
                <a:tc>
                  <a:txBody>
                    <a:bodyPr/>
                    <a:lstStyle/>
                    <a:p>
                      <a:pPr>
                        <a:defRPr sz="800"/>
                      </a:pPr>
                      <a:r>
                        <a:t>中</a:t>
                      </a:r>
                    </a:p>
                  </a:txBody>
                  <a:tcPr/>
                </a:tc>
                <a:tc>
                  <a:txBody>
                    <a:bodyPr/>
                    <a:lstStyle/>
                    <a:p>
                      <a:pPr>
                        <a:defRPr sz="800"/>
                      </a:pPr>
                      <a:r>
                        <a:t>ピーク日想定の件数レンジを追加し、精算バッチ枠内に収まることを性能試験で確認</a:t>
                      </a:r>
                    </a:p>
                  </a:txBody>
                  <a:tcPr/>
                </a:tc>
                <a:tc>
                  <a:txBody>
                    <a:bodyPr/>
                    <a:lstStyle/>
                    <a:p>
                      <a:pPr>
                        <a:defRPr sz="800"/>
                      </a:pPr>
                      <a:r>
                        <a:t>北川 真由</a:t>
                      </a:r>
                    </a:p>
                  </a:txBody>
                  <a:tcPr/>
                </a:tc>
                <a:tc>
                  <a:txBody>
                    <a:bodyPr/>
                    <a:lstStyle/>
                    <a:p>
                      <a:pPr>
                        <a:defRPr sz="800">
                          <a:solidFill>
                            <a:srgbClr val="C0392B"/>
                          </a:solidFill>
                        </a:defRPr>
                      </a:pPr>
                      <a:r>
                        <a:t>未対応</a:t>
                      </a:r>
                    </a:p>
                  </a:txBody>
                  <a:tcPr/>
                </a:tc>
              </a:tr>
              <a:tr h="457200">
                <a:tc>
                  <a:txBody>
                    <a:bodyPr/>
                    <a:lstStyle/>
                    <a:p>
                      <a:pPr>
                        <a:defRPr sz="800"/>
                      </a:pPr>
                      <a:r>
                        <a:t>3</a:t>
                      </a:r>
                    </a:p>
                  </a:txBody>
                  <a:tcPr/>
                </a:tc>
                <a:tc>
                  <a:txBody>
                    <a:bodyPr/>
                    <a:lstStyle/>
                    <a:p>
                      <a:pPr>
                        <a:defRPr sz="800"/>
                      </a:pPr>
                      <a:r>
                        <a:t>整合性</a:t>
                      </a:r>
                    </a:p>
                  </a:txBody>
                  <a:tcPr/>
                </a:tc>
                <a:tc>
                  <a:txBody>
                    <a:bodyPr/>
                    <a:lstStyle/>
                    <a:p>
                      <a:pPr>
                        <a:defRPr sz="800"/>
                      </a:pPr>
                      <a:r>
                        <a:t>売上確定リンク生成と精算ネット処理の境界は整理されているが、精算区分の扱いについて本文表現が詳細化し過ぎる箇所がある</a:t>
                      </a:r>
                    </a:p>
                  </a:txBody>
                  <a:tcPr/>
                </a:tc>
                <a:tc>
                  <a:txBody>
                    <a:bodyPr/>
                    <a:lstStyle/>
                    <a:p>
                      <a:pPr>
                        <a:defRPr sz="800"/>
                      </a:pPr>
                      <a:r>
                        <a:t>B</a:t>
                      </a:r>
                    </a:p>
                  </a:txBody>
                  <a:tcPr/>
                </a:tc>
                <a:tc>
                  <a:txBody>
                    <a:bodyPr/>
                    <a:lstStyle/>
                    <a:p>
                      <a:pPr>
                        <a:defRPr sz="800"/>
                      </a:pPr>
                      <a:r>
                        <a:t>計上規則は実装に従う旨に表現を統一し、本資料では処理配置と運用観点に限定</a:t>
                      </a:r>
                    </a:p>
                  </a:txBody>
                  <a:tcPr/>
                </a:tc>
                <a:tc>
                  <a:txBody>
                    <a:bodyPr/>
                    <a:lstStyle/>
                    <a:p>
                      <a:pPr>
                        <a:defRPr sz="800"/>
                      </a:pPr>
                      <a:r>
                        <a:t>杉浦 直人</a:t>
                      </a:r>
                    </a:p>
                  </a:txBody>
                  <a:tcPr/>
                </a:tc>
                <a:tc>
                  <a:txBody>
                    <a:bodyPr/>
                    <a:lstStyle/>
                    <a:p>
                      <a:pPr>
                        <a:defRPr sz="800"/>
                      </a:pPr>
                      <a:r>
                        <a:t>対応中</a:t>
                      </a:r>
                    </a:p>
                  </a:txBody>
                  <a:tcPr/>
                </a:tc>
              </a:tr>
              <a:tr h="457200">
                <a:tc>
                  <a:txBody>
                    <a:bodyPr/>
                    <a:lstStyle/>
                    <a:p>
                      <a:pPr>
                        <a:defRPr sz="800"/>
                      </a:pPr>
                      <a:r>
                        <a:t>4</a:t>
                      </a:r>
                    </a:p>
                  </a:txBody>
                  <a:tcPr/>
                </a:tc>
                <a:tc>
                  <a:txBody>
                    <a:bodyPr/>
                    <a:lstStyle/>
                    <a:p>
                      <a:pPr>
                        <a:defRPr sz="800"/>
                      </a:pPr>
                      <a:r>
                        <a:t>監視</a:t>
                      </a:r>
                    </a:p>
                  </a:txBody>
                  <a:tcPr/>
                </a:tc>
                <a:tc>
                  <a:txBody>
                    <a:bodyPr/>
                    <a:lstStyle/>
                    <a:p>
                      <a:pPr>
                        <a:defRPr sz="800"/>
                      </a:pPr>
                      <a:r>
                        <a:t>mipay_nettrace の異常終了時アラートは記載済みだが、件数差異がしきい値未満の場合の翌朝確認フローが未記載</a:t>
                      </a:r>
                    </a:p>
                  </a:txBody>
                  <a:tcPr/>
                </a:tc>
                <a:tc>
                  <a:txBody>
                    <a:bodyPr/>
                    <a:lstStyle/>
                    <a:p>
                      <a:pPr>
                        <a:defRPr sz="800"/>
                      </a:pPr>
                      <a:r>
                        <a:t>中</a:t>
                      </a:r>
                    </a:p>
                  </a:txBody>
                  <a:tcPr/>
                </a:tc>
                <a:tc>
                  <a:txBody>
                    <a:bodyPr/>
                    <a:lstStyle/>
                    <a:p>
                      <a:pPr>
                        <a:defRPr sz="800"/>
                      </a:pPr>
                      <a:r>
                        <a:t>精算・連携チームの朝次確認チェックリストに差異確認手順を追加</a:t>
                      </a:r>
                    </a:p>
                  </a:txBody>
                  <a:tcPr/>
                </a:tc>
                <a:tc>
                  <a:txBody>
                    <a:bodyPr/>
                    <a:lstStyle/>
                    <a:p>
                      <a:pPr>
                        <a:defRPr sz="800"/>
                      </a:pPr>
                      <a:r>
                        <a:t>藤井 智也</a:t>
                      </a:r>
                    </a:p>
                  </a:txBody>
                  <a:tcPr/>
                </a:tc>
                <a:tc>
                  <a:txBody>
                    <a:bodyPr/>
                    <a:lstStyle/>
                    <a:p>
                      <a:pPr>
                        <a:defRPr sz="800">
                          <a:solidFill>
                            <a:srgbClr val="C0392B"/>
                          </a:solidFill>
                        </a:defRPr>
                      </a:pPr>
                      <a:r>
                        <a:t>未対応</a:t>
                      </a:r>
                    </a:p>
                  </a:txBody>
                  <a:tcPr/>
                </a:tc>
              </a:tr>
            </a:tbl>
          </a:graphicData>
        </a:graphic>
      </p:graphicFrame>
      <p:sp>
        <p:nvSpPr>
          <p:cNvPr id="4" name="TextBox 3"/>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(レビュー版)    社外秘    4 /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