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463040"/>
            <a:ext cx="7680960" cy="2011680"/>
          </a:xfrm>
          <a:prstGeom prst="rect">
            <a:avLst/>
          </a:prstGeom>
          <a:noFill/>
        </p:spPr>
        <p:txBody>
          <a:bodyPr wrap="square">
            <a:spAutoFit/>
          </a:bodyPr>
          <a:lstStyle/>
          <a:p>
            <a:pPr>
              <a:defRPr sz="2800" b="1">
                <a:solidFill>
                  <a:srgbClr val="2C5AA0"/>
                </a:solidFill>
              </a:defRPr>
            </a:pPr>
            <a:r>
              <a:t>グループ与信・ポストトレード基盤 アーキテクチャ概要レビュー資料</a:t>
            </a:r>
          </a:p>
          <a:p>
            <a:pPr>
              <a:defRPr sz="1600"/>
            </a:pPr>
            <a:r>
              <a:t>Java コントロールプレーン連携および手数料計算モジュール配置の確認 (TS-2418)</a:t>
            </a:r>
          </a:p>
          <a:p>
            <a:pPr>
              <a:defRPr sz="1200"/>
            </a:pPr>
            <a:r>
              <a:t>みらい証券 HFT 注文・約定管理基盤</a:t>
            </a:r>
          </a:p>
          <a:p>
            <a:pPr>
              <a:defRPr sz="1200"/>
            </a:pPr>
            <a:r>
              <a:t>アーキテクチャ概要レビュー</a:t>
            </a:r>
          </a:p>
          <a:p>
            <a:pPr>
              <a:defRPr sz="1200"/>
            </a:pPr>
            <a:r>
              <a:t>発表: 杉浦 智子 (MS-042)</a:t>
            </a:r>
          </a:p>
          <a:p>
            <a:pPr>
              <a:defRPr sz="1200"/>
            </a:pPr>
            <a:r>
              <a:t>令和6年11月19日</a:t>
            </a:r>
          </a:p>
        </p:txBody>
      </p:sp>
      <p:sp>
        <p:nvSpPr>
          <p:cNvPr id="3" name="TextBox 2"/>
          <p:cNvSpPr txBox="1"/>
          <p:nvPr/>
        </p:nvSpPr>
        <p:spPr>
          <a:xfrm>
            <a:off x="6949440" y="274320"/>
            <a:ext cx="1828800" cy="457200"/>
          </a:xfrm>
          <a:prstGeom prst="rect">
            <a:avLst/>
          </a:prstGeom>
          <a:noFill/>
        </p:spPr>
        <p:txBody>
          <a:bodyPr wrap="none">
            <a:spAutoFit/>
          </a:bodyPr>
          <a:lstStyle/>
          <a:p>
            <a:pPr algn="r">
              <a:defRPr sz="1200">
                <a:solidFill>
                  <a:srgbClr val="C0392B"/>
                </a:solidFill>
              </a:defRPr>
            </a:pPr>
            <a:r>
              <a:t>社外秘 / v1.2 (案)</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1 /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200" b="1">
                <a:solidFill>
                  <a:srgbClr val="2C5AA0"/>
                </a:solidFill>
              </a:defRPr>
            </a:pPr>
            <a:r>
              <a:t>アジェンダ</a:t>
            </a:r>
          </a:p>
        </p:txBody>
      </p:sp>
      <p:sp>
        <p:nvSpPr>
          <p:cNvPr id="3" name="TextBox 2"/>
          <p:cNvSpPr txBox="1"/>
          <p:nvPr/>
        </p:nvSpPr>
        <p:spPr>
          <a:xfrm>
            <a:off x="640080" y="1188720"/>
            <a:ext cx="7863840" cy="3657600"/>
          </a:xfrm>
          <a:prstGeom prst="rect">
            <a:avLst/>
          </a:prstGeom>
          <a:noFill/>
        </p:spPr>
        <p:txBody>
          <a:bodyPr wrap="square">
            <a:spAutoFit/>
          </a:bodyPr>
          <a:lstStyle/>
          <a:p>
            <a:pPr>
              <a:defRPr sz="1600"/>
            </a:pPr>
            <a:r>
              <a:t>・1. レビュー目的・観点</a:t>
            </a:r>
          </a:p>
          <a:p>
            <a:pPr>
              <a:defRPr sz="1600"/>
            </a:pPr>
            <a:r>
              <a:t>・2. Java コントロールプレーンの構成概要</a:t>
            </a:r>
          </a:p>
          <a:p>
            <a:pPr>
              <a:defRPr sz="1600"/>
            </a:pPr>
            <a:r>
              <a:t>・3. GroupRiskService / OmsService / RefDataService / ReconService の連携</a:t>
            </a:r>
          </a:p>
          <a:p>
            <a:pPr>
              <a:defRPr sz="1600"/>
            </a:pPr>
            <a:r>
              <a:t>・4. 手数料計算モジュール mihft_fee の位置づけ</a:t>
            </a:r>
          </a:p>
          <a:p>
            <a:pPr>
              <a:defRPr sz="1600"/>
            </a:pPr>
            <a:r>
              <a:t>・5. 非機能・運用観点と指摘事項</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2 /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000" b="1">
                <a:solidFill>
                  <a:srgbClr val="2C5AA0"/>
                </a:solidFill>
              </a:defRPr>
            </a:pPr>
            <a:r>
              <a:t>設計概要 — 処理フロー (図1)</a:t>
            </a:r>
          </a:p>
        </p:txBody>
      </p:sp>
      <p:sp>
        <p:nvSpPr>
          <p:cNvPr id="3" name="Rectangle 2"/>
          <p:cNvSpPr/>
          <p:nvPr/>
        </p:nvSpPr>
        <p:spPr>
          <a:xfrm>
            <a:off x="36576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RefDataService 基準データ配信</a:t>
            </a:r>
          </a:p>
        </p:txBody>
      </p:sp>
      <p:sp>
        <p:nvSpPr>
          <p:cNvPr id="4" name="Rectangle 3"/>
          <p:cNvSpPr/>
          <p:nvPr/>
        </p:nvSpPr>
        <p:spPr>
          <a:xfrm>
            <a:off x="251460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OmsService 注文・約定管理</a:t>
            </a:r>
          </a:p>
        </p:txBody>
      </p:sp>
      <p:sp>
        <p:nvSpPr>
          <p:cNvPr id="5" name="Rectangle 4"/>
          <p:cNvSpPr/>
          <p:nvPr/>
        </p:nvSpPr>
        <p:spPr>
          <a:xfrm>
            <a:off x="466344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GroupRiskService 顧客ポジション横断の与信確認</a:t>
            </a:r>
          </a:p>
        </p:txBody>
      </p:sp>
      <p:sp>
        <p:nvSpPr>
          <p:cNvPr id="6" name="Rectangle 5"/>
          <p:cNvSpPr/>
          <p:nvPr/>
        </p:nvSpPr>
        <p:spPr>
          <a:xfrm>
            <a:off x="6812279"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mihft_fee 手数料計算</a:t>
            </a:r>
          </a:p>
        </p:txBody>
      </p:sp>
      <p:sp>
        <p:nvSpPr>
          <p:cNvPr id="7" name="TextBox 6"/>
          <p:cNvSpPr txBox="1"/>
          <p:nvPr/>
        </p:nvSpPr>
        <p:spPr>
          <a:xfrm>
            <a:off x="457200" y="3108960"/>
            <a:ext cx="8229600" cy="2103120"/>
          </a:xfrm>
          <a:prstGeom prst="rect">
            <a:avLst/>
          </a:prstGeom>
          <a:noFill/>
        </p:spPr>
        <p:txBody>
          <a:bodyPr wrap="square">
            <a:spAutoFit/>
          </a:bodyPr>
          <a:lstStyle/>
          <a:p>
            <a:pPr>
              <a:defRPr sz="1300"/>
            </a:pPr>
            <a:r>
              <a:t>・GroupRiskService は SCCUST・SCPOSF・SCMD を参照し、顧客単位のポジション横断の与信確認に必要な値を取り扱う</a:t>
            </a:r>
          </a:p>
          <a:p>
            <a:pPr>
              <a:defRPr sz="1300"/>
            </a:pPr>
            <a:r>
              <a:t>・OmsService は SCORDF・SCBOOK・SCEXEC を介して注文受付、板連携、約定反映の状態遷移を管理する</a:t>
            </a:r>
          </a:p>
          <a:p>
            <a:pPr>
              <a:defRPr sz="1300"/>
            </a:pPr>
            <a:r>
              <a:t>・RefDataService は SCINSTF・SCCALF・SCCUST を基準データとして配信し、取引日・銘柄・顧客属性の整合性を担保する</a:t>
            </a:r>
          </a:p>
          <a:p>
            <a:pPr>
              <a:defRPr sz="1300"/>
            </a:pPr>
            <a:r>
              <a:t>・ReconService は SCEXEC・SCPOSF・SCFEEF の照合を行い、日中差分と夜間確定処理の監視対象を整理する</a:t>
            </a:r>
          </a:p>
          <a:p>
            <a:pPr>
              <a:defRPr sz="1300"/>
            </a:pPr>
            <a:r>
              <a:t>・mihft_fee は mihft_types.h の共通型を前提に SCEXEC と SCFEEF を入出力とする手数料計算モジュールであり、計算の詳細は実装に従う</a:t>
            </a:r>
          </a:p>
        </p:txBody>
      </p:sp>
      <p:sp>
        <p:nvSpPr>
          <p:cNvPr id="8" name="TextBox 7"/>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3 /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000" b="1">
                <a:solidFill>
                  <a:srgbClr val="2C5AA0"/>
                </a:solidFill>
              </a:defRPr>
            </a:pPr>
            <a:r>
              <a:t>指摘事項一覧</a:t>
            </a:r>
          </a:p>
        </p:txBody>
      </p:sp>
      <p:graphicFrame>
        <p:nvGraphicFramePr>
          <p:cNvPr id="3" name="Table 2"/>
          <p:cNvGraphicFramePr>
            <a:graphicFrameLocks noGrp="1"/>
          </p:cNvGraphicFramePr>
          <p:nvPr/>
        </p:nvGraphicFramePr>
        <p:xfrm>
          <a:off x="274320" y="914400"/>
          <a:ext cx="8595360" cy="2286000"/>
        </p:xfrm>
        <a:graphic>
          <a:graphicData uri="http://schemas.openxmlformats.org/drawingml/2006/table">
            <a:tbl>
              <a:tblPr firstRow="1" bandRow="1">
                <a:tableStyleId>{5C22544A-7EE6-4342-B048-85BDC9FD1C3A}</a:tableStyleId>
              </a:tblPr>
              <a:tblGrid>
                <a:gridCol w="457200"/>
                <a:gridCol w="822960"/>
                <a:gridCol w="3291840"/>
                <a:gridCol w="731520"/>
                <a:gridCol w="1828800"/>
                <a:gridCol w="822960"/>
                <a:gridCol w="640080"/>
              </a:tblGrid>
              <a:tr h="457200">
                <a:tc>
                  <a:txBody>
                    <a:bodyPr/>
                    <a:lstStyle/>
                    <a:p>
                      <a:pPr>
                        <a:defRPr sz="900" b="1"/>
                      </a:pPr>
                      <a:r>
                        <a:t>No.</a:t>
                      </a:r>
                    </a:p>
                  </a:txBody>
                  <a:tcPr>
                    <a:solidFill>
                      <a:srgbClr val="DFE6EF"/>
                    </a:solidFill>
                  </a:tcPr>
                </a:tc>
                <a:tc>
                  <a:txBody>
                    <a:bodyPr/>
                    <a:lstStyle/>
                    <a:p>
                      <a:pPr>
                        <a:defRPr sz="900" b="1"/>
                      </a:pPr>
                      <a:r>
                        <a:t>区分</a:t>
                      </a:r>
                    </a:p>
                  </a:txBody>
                  <a:tcPr>
                    <a:solidFill>
                      <a:srgbClr val="DFE6EF"/>
                    </a:solidFill>
                  </a:tcPr>
                </a:tc>
                <a:tc>
                  <a:txBody>
                    <a:bodyPr/>
                    <a:lstStyle/>
                    <a:p>
                      <a:pPr>
                        <a:defRPr sz="900" b="1"/>
                      </a:pPr>
                      <a:r>
                        <a:t>指摘内容</a:t>
                      </a:r>
                    </a:p>
                  </a:txBody>
                  <a:tcPr>
                    <a:solidFill>
                      <a:srgbClr val="DFE6EF"/>
                    </a:solidFill>
                  </a:tcPr>
                </a:tc>
                <a:tc>
                  <a:txBody>
                    <a:bodyPr/>
                    <a:lstStyle/>
                    <a:p>
                      <a:pPr>
                        <a:defRPr sz="900" b="1"/>
                      </a:pPr>
                      <a:r>
                        <a:t>重要度</a:t>
                      </a:r>
                    </a:p>
                  </a:txBody>
                  <a:tcPr>
                    <a:solidFill>
                      <a:srgbClr val="DFE6EF"/>
                    </a:solidFill>
                  </a:tcPr>
                </a:tc>
                <a:tc>
                  <a:txBody>
                    <a:bodyPr/>
                    <a:lstStyle/>
                    <a:p>
                      <a:pPr>
                        <a:defRPr sz="900" b="1"/>
                      </a:pPr>
                      <a:r>
                        <a:t>対応方針</a:t>
                      </a:r>
                    </a:p>
                  </a:txBody>
                  <a:tcPr>
                    <a:solidFill>
                      <a:srgbClr val="DFE6EF"/>
                    </a:solidFill>
                  </a:tcPr>
                </a:tc>
                <a:tc>
                  <a:txBody>
                    <a:bodyPr/>
                    <a:lstStyle/>
                    <a:p>
                      <a:pPr>
                        <a:defRPr sz="900" b="1"/>
                      </a:pPr>
                      <a:r>
                        <a:t>担当</a:t>
                      </a:r>
                    </a:p>
                  </a:txBody>
                  <a:tcPr>
                    <a:solidFill>
                      <a:srgbClr val="DFE6EF"/>
                    </a:solidFill>
                  </a:tcPr>
                </a:tc>
                <a:tc>
                  <a:txBody>
                    <a:bodyPr/>
                    <a:lstStyle/>
                    <a:p>
                      <a:pPr>
                        <a:defRPr sz="900" b="1"/>
                      </a:pPr>
                      <a:r>
                        <a:t>状態</a:t>
                      </a:r>
                    </a:p>
                  </a:txBody>
                  <a:tcPr>
                    <a:solidFill>
                      <a:srgbClr val="DFE6EF"/>
                    </a:solidFill>
                  </a:tcPr>
                </a:tc>
              </a:tr>
              <a:tr h="457200">
                <a:tc>
                  <a:txBody>
                    <a:bodyPr/>
                    <a:lstStyle/>
                    <a:p>
                      <a:pPr>
                        <a:defRPr sz="800"/>
                      </a:pPr>
                      <a:r>
                        <a:t>1</a:t>
                      </a:r>
                    </a:p>
                  </a:txBody>
                  <a:tcPr/>
                </a:tc>
                <a:tc>
                  <a:txBody>
                    <a:bodyPr/>
                    <a:lstStyle/>
                    <a:p>
                      <a:pPr>
                        <a:defRPr sz="800"/>
                      </a:pPr>
                      <a:r>
                        <a:t>整合性</a:t>
                      </a:r>
                    </a:p>
                  </a:txBody>
                  <a:tcPr/>
                </a:tc>
                <a:tc>
                  <a:txBody>
                    <a:bodyPr/>
                    <a:lstStyle/>
                    <a:p>
                      <a:pPr>
                        <a:defRPr sz="800"/>
                      </a:pPr>
                      <a:r>
                        <a:t>GroupRiskService が参照する SCPOSF の更新タイミングについて、OmsService の約定反映完了後に利用可能となる前提が運用手順に明記されていない</a:t>
                      </a:r>
                    </a:p>
                  </a:txBody>
                  <a:tcPr/>
                </a:tc>
                <a:tc>
                  <a:txBody>
                    <a:bodyPr/>
                    <a:lstStyle/>
                    <a:p>
                      <a:pPr>
                        <a:defRPr sz="800"/>
                      </a:pPr>
                      <a:r>
                        <a:t>高</a:t>
                      </a:r>
                    </a:p>
                  </a:txBody>
                  <a:tcPr/>
                </a:tc>
                <a:tc>
                  <a:txBody>
                    <a:bodyPr/>
                    <a:lstStyle/>
                    <a:p>
                      <a:pPr>
                        <a:defRPr sz="800"/>
                      </a:pPr>
                      <a:r>
                        <a:t>日中更新と夜間確定の境界を運用設計書へ追記し、TS-2418 のレビュー記録に紐付ける</a:t>
                      </a:r>
                    </a:p>
                  </a:txBody>
                  <a:tcPr/>
                </a:tc>
                <a:tc>
                  <a:txBody>
                    <a:bodyPr/>
                    <a:lstStyle/>
                    <a:p>
                      <a:pPr>
                        <a:defRPr sz="800"/>
                      </a:pPr>
                      <a:r>
                        <a:t>杉浦 智子</a:t>
                      </a:r>
                    </a:p>
                  </a:txBody>
                  <a:tcPr/>
                </a:tc>
                <a:tc>
                  <a:txBody>
                    <a:bodyPr/>
                    <a:lstStyle/>
                    <a:p>
                      <a:pPr>
                        <a:defRPr sz="800">
                          <a:solidFill>
                            <a:srgbClr val="C0392B"/>
                          </a:solidFill>
                        </a:defRPr>
                      </a:pPr>
                      <a:r>
                        <a:t>未対応</a:t>
                      </a:r>
                    </a:p>
                  </a:txBody>
                  <a:tcPr/>
                </a:tc>
              </a:tr>
              <a:tr h="457200">
                <a:tc>
                  <a:txBody>
                    <a:bodyPr/>
                    <a:lstStyle/>
                    <a:p>
                      <a:pPr>
                        <a:defRPr sz="800"/>
                      </a:pPr>
                      <a:r>
                        <a:t>2</a:t>
                      </a:r>
                    </a:p>
                  </a:txBody>
                  <a:tcPr/>
                </a:tc>
                <a:tc>
                  <a:txBody>
                    <a:bodyPr/>
                    <a:lstStyle/>
                    <a:p>
                      <a:pPr>
                        <a:defRPr sz="800"/>
                      </a:pPr>
                      <a:r>
                        <a:t>非機能</a:t>
                      </a:r>
                    </a:p>
                  </a:txBody>
                  <a:tcPr/>
                </a:tc>
                <a:tc>
                  <a:txBody>
                    <a:bodyPr/>
                    <a:lstStyle/>
                    <a:p>
                      <a:pPr>
                        <a:defRPr sz="800"/>
                      </a:pPr>
                      <a:r>
                        <a:t>RefDataService の SCCALF 配信遅延時に OmsService 側の営業日判定が保留となるが、アラート閾値が監視項目一覧に未記載</a:t>
                      </a:r>
                    </a:p>
                  </a:txBody>
                  <a:tcPr/>
                </a:tc>
                <a:tc>
                  <a:txBody>
                    <a:bodyPr/>
                    <a:lstStyle/>
                    <a:p>
                      <a:pPr>
                        <a:defRPr sz="800"/>
                      </a:pPr>
                      <a:r>
                        <a:t>中</a:t>
                      </a:r>
                    </a:p>
                  </a:txBody>
                  <a:tcPr/>
                </a:tc>
                <a:tc>
                  <a:txBody>
                    <a:bodyPr/>
                    <a:lstStyle/>
                    <a:p>
                      <a:pPr>
                        <a:defRPr sz="800"/>
                      </a:pPr>
                      <a:r>
                        <a:t>配信遅延の検知条件と一次対応手順を監視設計へ追加</a:t>
                      </a:r>
                    </a:p>
                  </a:txBody>
                  <a:tcPr/>
                </a:tc>
                <a:tc>
                  <a:txBody>
                    <a:bodyPr/>
                    <a:lstStyle/>
                    <a:p>
                      <a:pPr>
                        <a:defRPr sz="800"/>
                      </a:pPr>
                      <a:r>
                        <a:t>長谷川 健</a:t>
                      </a:r>
                    </a:p>
                  </a:txBody>
                  <a:tcPr/>
                </a:tc>
                <a:tc>
                  <a:txBody>
                    <a:bodyPr/>
                    <a:lstStyle/>
                    <a:p>
                      <a:pPr>
                        <a:defRPr sz="800"/>
                      </a:pPr>
                      <a:r>
                        <a:t>対応中</a:t>
                      </a:r>
                    </a:p>
                  </a:txBody>
                  <a:tcPr/>
                </a:tc>
              </a:tr>
              <a:tr h="457200">
                <a:tc>
                  <a:txBody>
                    <a:bodyPr/>
                    <a:lstStyle/>
                    <a:p>
                      <a:pPr>
                        <a:defRPr sz="800"/>
                      </a:pPr>
                      <a:r>
                        <a:t>3</a:t>
                      </a:r>
                    </a:p>
                  </a:txBody>
                  <a:tcPr/>
                </a:tc>
                <a:tc>
                  <a:txBody>
                    <a:bodyPr/>
                    <a:lstStyle/>
                    <a:p>
                      <a:pPr>
                        <a:defRPr sz="800"/>
                      </a:pPr>
                      <a:r>
                        <a:t>保守性</a:t>
                      </a:r>
                    </a:p>
                  </a:txBody>
                  <a:tcPr/>
                </a:tc>
                <a:tc>
                  <a:txBody>
                    <a:bodyPr/>
                    <a:lstStyle/>
                    <a:p>
                      <a:pPr>
                        <a:defRPr sz="800"/>
                      </a:pPr>
                      <a:r>
                        <a:t>mihft_fee の入出力に SCEXEC・SCFEEF を用いる説明はあるが、mihft_types.h の共通型変更時の影響確認手順が記載不足</a:t>
                      </a:r>
                    </a:p>
                  </a:txBody>
                  <a:tcPr/>
                </a:tc>
                <a:tc>
                  <a:txBody>
                    <a:bodyPr/>
                    <a:lstStyle/>
                    <a:p>
                      <a:pPr>
                        <a:defRPr sz="800"/>
                      </a:pPr>
                      <a:r>
                        <a:t>B</a:t>
                      </a:r>
                    </a:p>
                  </a:txBody>
                  <a:tcPr/>
                </a:tc>
                <a:tc>
                  <a:txBody>
                    <a:bodyPr/>
                    <a:lstStyle/>
                    <a:p>
                      <a:pPr>
                        <a:defRPr sz="800"/>
                      </a:pPr>
                      <a:r>
                        <a:t>共通ヘッダ変更時のビルド確認対象に mihft_fee を明記。詳細な計算内容は実装に従う</a:t>
                      </a:r>
                    </a:p>
                  </a:txBody>
                  <a:tcPr/>
                </a:tc>
                <a:tc>
                  <a:txBody>
                    <a:bodyPr/>
                    <a:lstStyle/>
                    <a:p>
                      <a:pPr>
                        <a:defRPr sz="800"/>
                      </a:pPr>
                      <a:r>
                        <a:t>森田 翔</a:t>
                      </a:r>
                    </a:p>
                  </a:txBody>
                  <a:tcPr/>
                </a:tc>
                <a:tc>
                  <a:txBody>
                    <a:bodyPr/>
                    <a:lstStyle/>
                    <a:p>
                      <a:pPr>
                        <a:defRPr sz="800">
                          <a:solidFill>
                            <a:srgbClr val="C0392B"/>
                          </a:solidFill>
                        </a:defRPr>
                      </a:pPr>
                      <a:r>
                        <a:t>未対応</a:t>
                      </a:r>
                    </a:p>
                  </a:txBody>
                  <a:tcPr/>
                </a:tc>
              </a:tr>
              <a:tr h="457200">
                <a:tc>
                  <a:txBody>
                    <a:bodyPr/>
                    <a:lstStyle/>
                    <a:p>
                      <a:pPr>
                        <a:defRPr sz="800"/>
                      </a:pPr>
                      <a:r>
                        <a:t>4</a:t>
                      </a:r>
                    </a:p>
                  </a:txBody>
                  <a:tcPr/>
                </a:tc>
                <a:tc>
                  <a:txBody>
                    <a:bodyPr/>
                    <a:lstStyle/>
                    <a:p>
                      <a:pPr>
                        <a:defRPr sz="800"/>
                      </a:pPr>
                      <a:r>
                        <a:t>運用</a:t>
                      </a:r>
                    </a:p>
                  </a:txBody>
                  <a:tcPr/>
                </a:tc>
                <a:tc>
                  <a:txBody>
                    <a:bodyPr/>
                    <a:lstStyle/>
                    <a:p>
                      <a:pPr>
                        <a:defRPr sz="800"/>
                      </a:pPr>
                      <a:r>
                        <a:t>ReconService の照合エラー時、SCEXEC と SCPOSF の差分確認までは定義されているが、SCFEEF まで含む切り分け順序が手順書で曖昧</a:t>
                      </a:r>
                    </a:p>
                  </a:txBody>
                  <a:tcPr/>
                </a:tc>
                <a:tc>
                  <a:txBody>
                    <a:bodyPr/>
                    <a:lstStyle/>
                    <a:p>
                      <a:pPr>
                        <a:defRPr sz="800"/>
                      </a:pPr>
                      <a:r>
                        <a:t>高</a:t>
                      </a:r>
                    </a:p>
                  </a:txBody>
                  <a:tcPr/>
                </a:tc>
                <a:tc>
                  <a:txBody>
                    <a:bodyPr/>
                    <a:lstStyle/>
                    <a:p>
                      <a:pPr>
                        <a:defRPr sz="800"/>
                      </a:pPr>
                      <a:r>
                        <a:t>約定、ポジション、手数料の順で確認する標準手順を追記し、夜間リカバリ訓練で確認</a:t>
                      </a:r>
                    </a:p>
                  </a:txBody>
                  <a:tcPr/>
                </a:tc>
                <a:tc>
                  <a:txBody>
                    <a:bodyPr/>
                    <a:lstStyle/>
                    <a:p>
                      <a:pPr>
                        <a:defRPr sz="800"/>
                      </a:pPr>
                      <a:r>
                        <a:t>杉浦 智子</a:t>
                      </a:r>
                    </a:p>
                  </a:txBody>
                  <a:tcPr/>
                </a:tc>
                <a:tc>
                  <a:txBody>
                    <a:bodyPr/>
                    <a:lstStyle/>
                    <a:p>
                      <a:pPr>
                        <a:defRPr sz="800">
                          <a:solidFill>
                            <a:srgbClr val="C0392B"/>
                          </a:solidFill>
                        </a:defRPr>
                      </a:pPr>
                      <a:r>
                        <a:t>未対応</a:t>
                      </a:r>
                    </a:p>
                  </a:txBody>
                  <a:tcPr/>
                </a:tc>
              </a:tr>
            </a:tbl>
          </a:graphicData>
        </a:graphic>
      </p:graphicFrame>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4 /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