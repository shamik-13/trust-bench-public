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5AA0"/>
                </a:solidFill>
              </a:defRPr>
            </a:pPr>
            <a:r>
              <a:t>みらいペイ ウォレット与信オーソリ判定基盤 アーキテクチャ概要レビュー資料</a:t>
            </a:r>
          </a:p>
          <a:p>
            <a:pPr>
              <a:defRPr sz="1600"/>
            </a:pPr>
            <a:r>
              <a:t>決済受付から与信判定・応答電文連携までの構成確認</a:t>
            </a:r>
          </a:p>
          <a:p>
            <a:pPr>
              <a:defRPr sz="1200"/>
            </a:pPr>
            <a:r>
              <a:t>みらいペイ コード決済・ウォレット基盤</a:t>
            </a:r>
          </a:p>
          <a:p>
            <a:pPr>
              <a:defRPr sz="1200"/>
            </a:pPr>
            <a:r>
              <a:t>方式設計レビュー</a:t>
            </a:r>
          </a:p>
          <a:p>
            <a:pPr>
              <a:defRPr sz="1200"/>
            </a:pPr>
            <a:r>
              <a:t>発表: 中村 俊介 (MP-119)</a:t>
            </a:r>
          </a:p>
          <a:p>
            <a:pPr>
              <a:defRPr sz="1200"/>
            </a:pPr>
            <a:r>
              <a:t>令和5年9月21日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392B"/>
                </a:solidFill>
              </a:defRPr>
            </a:pPr>
            <a:r>
              <a:t>社外秘 / v1.2 (レビュー反映版)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v1.2 (レビュー反映版)    社外秘    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C5AA0"/>
                </a:solidFill>
              </a:defRPr>
            </a:pPr>
            <a:r>
              <a:t>アジェンダ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・1. レビュー目的・観点</a:t>
            </a:r>
          </a:p>
          <a:p>
            <a:pPr>
              <a:defRPr sz="1600"/>
            </a:pPr>
            <a:r>
              <a:t>・2. オーソリ判定基盤の全体構成</a:t>
            </a:r>
          </a:p>
          <a:p>
            <a:pPr>
              <a:defRPr sz="1600"/>
            </a:pPr>
            <a:r>
              <a:t>・3. 決済受付・与信判定・応答連携の処理概要</a:t>
            </a:r>
          </a:p>
          <a:p>
            <a:pPr>
              <a:defRPr sz="1600"/>
            </a:pPr>
            <a:r>
              <a:t>・4. 指摘事項一覧</a:t>
            </a:r>
          </a:p>
          <a:p>
            <a:pPr>
              <a:defRPr sz="1600"/>
            </a:pPr>
            <a:r>
              <a:t>・5. 残課題・次のステップ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v1.2 (レビュー反映版)    社外秘    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5AA0"/>
                </a:solidFill>
              </a:defRPr>
            </a:pPr>
            <a:r>
              <a:t>設計概要 — 処理フロー (図1)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828800"/>
            <a:ext cx="1828800" cy="822960"/>
          </a:xfrm>
          <a:prstGeom prst="rect">
            <a:avLst/>
          </a:prstGeom>
          <a:solidFill>
            <a:srgbClr val="DFE6EF"/>
          </a:solidFill>
          <a:ln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mipay_auth_gateway 決済受付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4600" y="1828800"/>
            <a:ext cx="1828800" cy="822960"/>
          </a:xfrm>
          <a:prstGeom prst="rect">
            <a:avLst/>
          </a:prstGeom>
          <a:solidFill>
            <a:srgbClr val="DFE6EF"/>
          </a:solidFill>
          <a:ln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AuthEngine 与信オーソリ判定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1828800"/>
            <a:ext cx="1828800" cy="822960"/>
          </a:xfrm>
          <a:prstGeom prst="rect">
            <a:avLst/>
          </a:prstGeom>
          <a:solidFill>
            <a:srgbClr val="DFE6EF"/>
          </a:solidFill>
          <a:ln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WalletBalanceService 残高参照</a:t>
            </a:r>
          </a:p>
        </p:txBody>
      </p:sp>
      <p:sp>
        <p:nvSpPr>
          <p:cNvPr id="6" name="Rectangle 5"/>
          <p:cNvSpPr/>
          <p:nvPr/>
        </p:nvSpPr>
        <p:spPr>
          <a:xfrm>
            <a:off x="6812279" y="1828800"/>
            <a:ext cx="1828800" cy="822960"/>
          </a:xfrm>
          <a:prstGeom prst="rect">
            <a:avLst/>
          </a:prstGeom>
          <a:solidFill>
            <a:srgbClr val="DFE6EF"/>
          </a:solidFill>
          <a:ln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AuthHoldAggregator ホールド参照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・決済受付は mipay_auth_gateway で受信し、AuthEngine に判定要求を連携</a:t>
            </a:r>
          </a:p>
          <a:p>
            <a:pPr>
              <a:defRPr sz="1300"/>
            </a:pPr>
            <a:r>
              <a:t>・AuthEngine はウォレット残高、ホールド、未確定決済の関連データを参照して承認・否認を判定</a:t>
            </a:r>
          </a:p>
          <a:p>
            <a:pPr>
              <a:defRPr sz="1300"/>
            </a:pPr>
            <a:r>
              <a:t>・ホールド情報は PYHOLDF、残高情報は PYBALF、未確定決済情報は PYPENDF を参照対象とする</a:t>
            </a:r>
          </a:p>
          <a:p>
            <a:pPr>
              <a:defRPr sz="1300"/>
            </a:pPr>
            <a:r>
              <a:t>・利用可能残高に関する詳細な算定条件は本資料の対象外とし、判定の実務仕様は実装に従う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v1.2 (レビュー反映版)    社外秘    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5AA0"/>
                </a:solidFill>
              </a:defRPr>
            </a:pPr>
            <a:r>
              <a:t>指摘事項一覧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914400"/>
          <a:ext cx="8595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822960"/>
                <a:gridCol w="3291840"/>
                <a:gridCol w="731520"/>
                <a:gridCol w="1828800"/>
                <a:gridCol w="822960"/>
                <a:gridCol w="640080"/>
              </a:tblGrid>
              <a:tr h="45720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DFE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区分</a:t>
                      </a:r>
                    </a:p>
                  </a:txBody>
                  <a:tcPr>
                    <a:solidFill>
                      <a:srgbClr val="DFE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指摘内容</a:t>
                      </a:r>
                    </a:p>
                  </a:txBody>
                  <a:tcPr>
                    <a:solidFill>
                      <a:srgbClr val="DFE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重要度</a:t>
                      </a:r>
                    </a:p>
                  </a:txBody>
                  <a:tcPr>
                    <a:solidFill>
                      <a:srgbClr val="DFE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対応方針</a:t>
                      </a:r>
                    </a:p>
                  </a:txBody>
                  <a:tcPr>
                    <a:solidFill>
                      <a:srgbClr val="DFE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担当</a:t>
                      </a:r>
                    </a:p>
                  </a:txBody>
                  <a:tcPr>
                    <a:solidFill>
                      <a:srgbClr val="DFE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状態</a:t>
                      </a:r>
                    </a:p>
                  </a:txBody>
                  <a:tcPr>
                    <a:solidFill>
                      <a:srgbClr val="DFE6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整合性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AuthEngine から参照する PYWALF と PYBALF の更新タイミングについて、オンライン受付系と日次補正系の境界が図上で読み取りにくい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データ更新責務を方式図に追記し、夜間補正時の参照前提を注記する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中村 俊介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対応中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運用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PYARSPF 出力遅延時の再送・照会手順が監視設計書側に分散しており、本資料だけでは一次切り分けの導線が不足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運用フローへの参照リンクと障害時の責任分界を追記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佐伯 千尋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C0392B"/>
                          </a:solidFill>
                        </a:defRPr>
                      </a:pPr>
                      <a:r>
                        <a:t>未対応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非機能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ホールド参照のピーク時負荷見積りが通常日の件数ベースで、キャンペーン日や給与日後の増加分が別紙扱いになっている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性能試験条件にピーク係数を明記し、AuthHoldAggregator の参照件数前提を合わせる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小野寺 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対応中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保守性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mipay_auth_gateway と AuthEngine のエラーコード対応表に、否認理由と通信異常の分類が混在している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業務否認・システム異常・タイムアウトを分けて PYARSPF への設定方針を整理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中村 俊介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C0392B"/>
                          </a:solidFill>
                        </a:defRPr>
                      </a:pPr>
                      <a:r>
                        <a:t>未対応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649224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v1.2 (レビュー反映版)    社外秘    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