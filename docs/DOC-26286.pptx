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5AA0"/>
                </a:solidFill>
              </a:defRPr>
            </a:pPr>
            <a:r>
              <a:t>HFT 取引プラットフォーム アーキテクチャ概要</a:t>
            </a:r>
          </a:p>
          <a:p>
            <a:pPr>
              <a:defRPr sz="1600"/>
            </a:pPr>
            <a:r>
              <a:t>C ホットパス + Java コントロールプレーン 構成レビュー</a:t>
            </a:r>
          </a:p>
          <a:p>
            <a:pPr>
              <a:defRPr sz="1200"/>
            </a:pPr>
            <a:r>
              <a:t>みらい証券 トレーディングシステム</a:t>
            </a:r>
          </a:p>
          <a:p>
            <a:pPr>
              <a:defRPr sz="1200"/>
            </a:pPr>
            <a:r>
              <a:t>アーキテクチャレビュー</a:t>
            </a:r>
          </a:p>
          <a:p>
            <a:pPr>
              <a:defRPr sz="1200"/>
            </a:pPr>
            <a:r>
              <a:t>発表: 黒田 誠 (E-201)</a:t>
            </a:r>
          </a:p>
          <a:p>
            <a:pPr>
              <a:defRPr sz="1200"/>
            </a:pPr>
            <a:r>
              <a:t>令和7年2月14日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392B"/>
                </a:solidFill>
              </a:defRPr>
            </a:pPr>
            <a:r>
              <a:t>社外秘 / v1.1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v1.1    社外秘    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5AA0"/>
                </a:solidFill>
              </a:defRPr>
            </a:pPr>
            <a:r>
              <a:t>アジェンダ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・1. 全体構成と責務分割 (HF / SC)</a:t>
            </a:r>
          </a:p>
          <a:p>
            <a:pPr>
              <a:defRPr sz="1600"/>
            </a:pPr>
            <a:r>
              <a:t>・2. 発注フローとコンポーネント連携</a:t>
            </a:r>
          </a:p>
          <a:p>
            <a:pPr>
              <a:defRPr sz="1600"/>
            </a:pPr>
            <a:r>
              <a:t>・3. レイテンシ予算と非機能要件</a:t>
            </a:r>
          </a:p>
          <a:p>
            <a:pPr>
              <a:defRPr sz="1600"/>
            </a:pPr>
            <a:r>
              <a:t>・4. 運用・監視・キルスイッチ</a:t>
            </a:r>
          </a:p>
          <a:p>
            <a:pPr>
              <a:defRPr sz="1600"/>
            </a:pPr>
            <a:r>
              <a:t>・5. アーキテクチャ観点の指摘事項</a:t>
            </a:r>
          </a:p>
          <a:p>
            <a:pPr>
              <a:defRPr sz="1600"/>
            </a:pPr>
            <a:r>
              <a:t>・6. 残課題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v1.1    社外秘    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5AA0"/>
                </a:solidFill>
              </a:defRPr>
            </a:pPr>
            <a:r>
              <a:t>設計概要 — 処理フロー (図1)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828800"/>
            <a:ext cx="1828800" cy="822960"/>
          </a:xfrm>
          <a:prstGeom prst="rect">
            <a:avLst/>
          </a:prstGeom>
          <a:solidFill>
            <a:srgbClr val="DFE6EF"/>
          </a:solidFill>
          <a:ln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mihft_gateway 発注ゲートウェイ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0" y="1828800"/>
            <a:ext cx="1828800" cy="822960"/>
          </a:xfrm>
          <a:prstGeom prst="rect">
            <a:avLst/>
          </a:prstGeom>
          <a:solidFill>
            <a:srgbClr val="DFE6EF"/>
          </a:solidFill>
          <a:ln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mihft_risk 発注前リスク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828800"/>
            <a:ext cx="1828800" cy="822960"/>
          </a:xfrm>
          <a:prstGeom prst="rect">
            <a:avLst/>
          </a:prstGeom>
          <a:solidFill>
            <a:srgbClr val="DFE6EF"/>
          </a:solidFill>
          <a:ln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mihft_seq シーケンサ</a:t>
            </a:r>
          </a:p>
        </p:txBody>
      </p:sp>
      <p:sp>
        <p:nvSpPr>
          <p:cNvPr id="6" name="Rectangle 5"/>
          <p:cNvSpPr/>
          <p:nvPr/>
        </p:nvSpPr>
        <p:spPr>
          <a:xfrm>
            <a:off x="6812279" y="1828800"/>
            <a:ext cx="1828800" cy="822960"/>
          </a:xfrm>
          <a:prstGeom prst="rect">
            <a:avLst/>
          </a:prstGeom>
          <a:solidFill>
            <a:srgbClr val="DFE6EF"/>
          </a:solidFill>
          <a:ln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mihft_match マッチング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・ホットパス(HF)はC、コントロールプレーン(SC)はJavaで実装し責務を分離</a:t>
            </a:r>
          </a:p>
          <a:p>
            <a:pPr>
              <a:defRPr sz="1300"/>
            </a:pPr>
            <a:r>
              <a:t>・発注はゲートウェイ→リスク判定→シーケンサ→マッチングの順に流れる</a:t>
            </a:r>
          </a:p>
          <a:p>
            <a:pPr>
              <a:defRPr sz="1300"/>
            </a:pPr>
            <a:r>
              <a:t>・板・ポジション・手数料はマッチング配下の各モジュールが担当</a:t>
            </a:r>
          </a:p>
          <a:p>
            <a:pPr>
              <a:defRPr sz="1300"/>
            </a:pPr>
            <a:r>
              <a:t>・Java側(OMS・与信集計・照合・参照データ)はホットパス出力を読み取り</a:t>
            </a:r>
          </a:p>
          <a:p>
            <a:pPr>
              <a:defRPr sz="1300"/>
            </a:pPr>
            <a:r>
              <a:t>・判定ルール・閾値の具体は各モジュールのコードに実装(本資料は構成のみ)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v1.1    社外秘    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5AA0"/>
                </a:solidFill>
              </a:defRPr>
            </a:pPr>
            <a:r>
              <a:t>指摘事項一覧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8595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822960"/>
                <a:gridCol w="3291840"/>
                <a:gridCol w="731520"/>
                <a:gridCol w="1828800"/>
                <a:gridCol w="822960"/>
                <a:gridCol w="640080"/>
              </a:tblGrid>
              <a:tr h="4572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区分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指摘内容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重要度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対応方針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担当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状態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非機能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ホットパスのレイテンシ計測がモジュール単位で取得できておらず、ボトルネック特定が困難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計測フックを mihft_seq のジャーナルに付与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黒田 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0392B"/>
                          </a:solidFill>
                        </a:defRPr>
                      </a:pPr>
                      <a:r>
                        <a:t>未対応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運用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ジャーナル再生(リプレイ)手順がランブックに未整備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運用ランブックへ追記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西村 拓也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対応中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保守性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Java側がdefaultパッケージのまま。名前空間整理が望ましいが今回スコープ外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(案) 別件で対応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守屋 香織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0392B"/>
                          </a:solidFill>
                        </a:defRPr>
                      </a:pPr>
                      <a:r>
                        <a:t>未対応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監視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キルスイッチ作動時の通知経路が一系統のみで冗長性なし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監視(AdminMonitor)側で二重化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安藤 さゆり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0392B"/>
                          </a:solidFill>
                        </a:defRPr>
                      </a:pPr>
                      <a:r>
                        <a:t>未対応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64922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v1.1    社外秘    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