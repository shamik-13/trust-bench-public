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463040"/>
            <a:ext cx="7680960" cy="2011680"/>
          </a:xfrm>
          <a:prstGeom prst="rect">
            <a:avLst/>
          </a:prstGeom>
          <a:noFill/>
        </p:spPr>
        <p:txBody>
          <a:bodyPr wrap="square">
            <a:spAutoFit/>
          </a:bodyPr>
          <a:lstStyle/>
          <a:p>
            <a:pPr>
              <a:defRPr sz="2800" b="1">
                <a:solidFill>
                  <a:srgbClr val="2C5AA0"/>
                </a:solidFill>
              </a:defRPr>
            </a:pPr>
            <a:r>
              <a:t>商品別与信エクスポージャ管理方針 レビュー会 資料</a:t>
            </a:r>
          </a:p>
          <a:p>
            <a:pPr>
              <a:defRPr sz="1600"/>
            </a:pPr>
            <a:r>
              <a:t>顧客別・商品別集計および商品別上限額によるキャップ適用方針の確認 (D-1005)</a:t>
            </a:r>
          </a:p>
          <a:p>
            <a:pPr>
              <a:defRPr sz="1200"/>
            </a:pPr>
            <a:r>
              <a:t>勘定系 (KZ) 与信エクスポージャ管理</a:t>
            </a:r>
          </a:p>
          <a:p>
            <a:pPr>
              <a:defRPr sz="1200"/>
            </a:pPr>
            <a:r>
              <a:t>基本設計レビュー</a:t>
            </a:r>
          </a:p>
          <a:p>
            <a:pPr>
              <a:defRPr sz="1200"/>
            </a:pPr>
            <a:r>
              <a:t>発表: 佐伯 佳奈 (E-042)</a:t>
            </a:r>
          </a:p>
          <a:p>
            <a:pPr>
              <a:defRPr sz="1200"/>
            </a:pPr>
            <a:r>
              <a:t>令和7年5月20日</a:t>
            </a:r>
          </a:p>
        </p:txBody>
      </p:sp>
      <p:sp>
        <p:nvSpPr>
          <p:cNvPr id="3" name="TextBox 2"/>
          <p:cNvSpPr txBox="1"/>
          <p:nvPr/>
        </p:nvSpPr>
        <p:spPr>
          <a:xfrm>
            <a:off x="6949440" y="274320"/>
            <a:ext cx="1828800" cy="457200"/>
          </a:xfrm>
          <a:prstGeom prst="rect">
            <a:avLst/>
          </a:prstGeom>
          <a:noFill/>
        </p:spPr>
        <p:txBody>
          <a:bodyPr wrap="none">
            <a:spAutoFit/>
          </a:bodyPr>
          <a:lstStyle/>
          <a:p>
            <a:pPr algn="r">
              <a:defRPr sz="1200">
                <a:solidFill>
                  <a:srgbClr val="C0392B"/>
                </a:solidFill>
              </a:defRPr>
            </a:pPr>
            <a:r>
              <a:t>社外秘 / v1.1 (承認前)</a:t>
            </a:r>
          </a:p>
        </p:txBody>
      </p:sp>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v1.1 (承認前)    社外秘    1 /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200" b="1">
                <a:solidFill>
                  <a:srgbClr val="2C5AA0"/>
                </a:solidFill>
              </a:defRPr>
            </a:pPr>
            <a:r>
              <a:t>アジェンダ</a:t>
            </a:r>
          </a:p>
        </p:txBody>
      </p:sp>
      <p:sp>
        <p:nvSpPr>
          <p:cNvPr id="3" name="TextBox 2"/>
          <p:cNvSpPr txBox="1"/>
          <p:nvPr/>
        </p:nvSpPr>
        <p:spPr>
          <a:xfrm>
            <a:off x="640080" y="1188720"/>
            <a:ext cx="7863840" cy="3657600"/>
          </a:xfrm>
          <a:prstGeom prst="rect">
            <a:avLst/>
          </a:prstGeom>
          <a:noFill/>
        </p:spPr>
        <p:txBody>
          <a:bodyPr wrap="square">
            <a:spAutoFit/>
          </a:bodyPr>
          <a:lstStyle/>
          <a:p>
            <a:pPr>
              <a:defRPr sz="1600"/>
            </a:pPr>
            <a:r>
              <a:t>・1. 第3回レビュー会 指摘事項の対応状況</a:t>
            </a:r>
          </a:p>
          <a:p>
            <a:pPr>
              <a:defRPr sz="1600"/>
            </a:pPr>
            <a:r>
              <a:t>・2. D-1005 商品別与信エクスポージャ管理方針の確認</a:t>
            </a:r>
          </a:p>
          <a:p>
            <a:pPr>
              <a:defRPr sz="1600"/>
            </a:pPr>
            <a:r>
              <a:t>・3. KZ160B における集計・キャップ適用処理の設計概要</a:t>
            </a:r>
          </a:p>
          <a:p>
            <a:pPr>
              <a:defRPr sz="1600"/>
            </a:pPr>
            <a:r>
              <a:t>・4. 商品区分別の上限額および超過フラグ設定条件</a:t>
            </a:r>
          </a:p>
          <a:p>
            <a:pPr>
              <a:defRPr sz="1600"/>
            </a:pPr>
            <a:r>
              <a:t>・5. 承認依頼事項・残課題</a:t>
            </a:r>
          </a:p>
        </p:txBody>
      </p:sp>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v1.1 (承認前)    社外秘    2 /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000" b="1">
                <a:solidFill>
                  <a:srgbClr val="2C5AA0"/>
                </a:solidFill>
              </a:defRPr>
            </a:pPr>
            <a:r>
              <a:t>設計概要 — 優遇グループ判定フロー (図1)</a:t>
            </a:r>
          </a:p>
        </p:txBody>
      </p:sp>
      <p:sp>
        <p:nvSpPr>
          <p:cNvPr id="3" name="Rectangle 2"/>
          <p:cNvSpPr/>
          <p:nvPr/>
        </p:nvSpPr>
        <p:spPr>
          <a:xfrm>
            <a:off x="36576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KZ160B 与信エクスポージャ集計バッチ</a:t>
            </a:r>
          </a:p>
        </p:txBody>
      </p:sp>
      <p:sp>
        <p:nvSpPr>
          <p:cNvPr id="4" name="Rectangle 3"/>
          <p:cNvSpPr/>
          <p:nvPr/>
        </p:nvSpPr>
        <p:spPr>
          <a:xfrm>
            <a:off x="251460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顧客別・商品別残高集計</a:t>
            </a:r>
          </a:p>
        </p:txBody>
      </p:sp>
      <p:sp>
        <p:nvSpPr>
          <p:cNvPr id="5" name="Rectangle 4"/>
          <p:cNvSpPr/>
          <p:nvPr/>
        </p:nvSpPr>
        <p:spPr>
          <a:xfrm>
            <a:off x="466344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商品別上限額参照</a:t>
            </a:r>
          </a:p>
        </p:txBody>
      </p:sp>
      <p:sp>
        <p:nvSpPr>
          <p:cNvPr id="6" name="Rectangle 5"/>
          <p:cNvSpPr/>
          <p:nvPr/>
        </p:nvSpPr>
        <p:spPr>
          <a:xfrm>
            <a:off x="6812279"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KZ-TBL-EXPO 商品別与信上限表</a:t>
            </a:r>
          </a:p>
        </p:txBody>
      </p:sp>
      <p:sp>
        <p:nvSpPr>
          <p:cNvPr id="7" name="TextBox 6"/>
          <p:cNvSpPr txBox="1"/>
          <p:nvPr/>
        </p:nvSpPr>
        <p:spPr>
          <a:xfrm>
            <a:off x="457200" y="3108960"/>
            <a:ext cx="8229600" cy="2103120"/>
          </a:xfrm>
          <a:prstGeom prst="rect">
            <a:avLst/>
          </a:prstGeom>
          <a:noFill/>
        </p:spPr>
        <p:txBody>
          <a:bodyPr wrap="square">
            <a:spAutoFit/>
          </a:bodyPr>
          <a:lstStyle/>
          <a:p>
            <a:pPr>
              <a:defRPr sz="1300"/>
            </a:pPr>
            <a:r>
              <a:t>・与信エクスポージャは顧客別・商品別に集計し、商品ごとの上限額で頭打ちする</a:t>
            </a:r>
          </a:p>
          <a:p>
            <a:pPr>
              <a:defRPr sz="1300"/>
            </a:pPr>
            <a:r>
              <a:t>・商品区分01 カードローンの上限額は1,000,000円、商品区分02 当座貸越の上限額は3,000,000円、商品区分03 証書貸付の上限額は10,000,000円とする</a:t>
            </a:r>
          </a:p>
          <a:p>
            <a:pPr>
              <a:defRPr sz="1300"/>
            </a:pPr>
            <a:r>
              <a:t>・各商品で残高が上限額を超える場合は超過フラグを立て、集計値は上限額でキャップする</a:t>
            </a:r>
          </a:p>
          <a:p>
            <a:pPr>
              <a:defRPr sz="1300"/>
            </a:pPr>
            <a:r>
              <a:t>・集計およびキャップ適用は与信エクスポージャ集計バッチ KZ160B が行う</a:t>
            </a:r>
          </a:p>
          <a:p>
            <a:pPr>
              <a:defRPr sz="1300"/>
            </a:pPr>
            <a:r>
              <a:t>・具体の上限額一覧は別紙『商品別与信上限表』(KZ-TBL-EXPO) に定める</a:t>
            </a:r>
          </a:p>
        </p:txBody>
      </p:sp>
      <p:sp>
        <p:nvSpPr>
          <p:cNvPr id="8" name="TextBox 7"/>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v1.1 (承認前)    社外秘    3 /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000" b="1">
                <a:solidFill>
                  <a:srgbClr val="2C5AA0"/>
                </a:solidFill>
              </a:defRPr>
            </a:pPr>
            <a:r>
              <a:t>指摘事項一覧</a:t>
            </a:r>
          </a:p>
        </p:txBody>
      </p:sp>
      <p:graphicFrame>
        <p:nvGraphicFramePr>
          <p:cNvPr id="3" name="Table 2"/>
          <p:cNvGraphicFramePr>
            <a:graphicFrameLocks noGrp="1"/>
          </p:cNvGraphicFramePr>
          <p:nvPr/>
        </p:nvGraphicFramePr>
        <p:xfrm>
          <a:off x="274320" y="914400"/>
          <a:ext cx="8595360" cy="2286000"/>
        </p:xfrm>
        <a:graphic>
          <a:graphicData uri="http://schemas.openxmlformats.org/drawingml/2006/table">
            <a:tbl>
              <a:tblPr firstRow="1" bandRow="1">
                <a:tableStyleId>{5C22544A-7EE6-4342-B048-85BDC9FD1C3A}</a:tableStyleId>
              </a:tblPr>
              <a:tblGrid>
                <a:gridCol w="457200"/>
                <a:gridCol w="822960"/>
                <a:gridCol w="3291840"/>
                <a:gridCol w="731520"/>
                <a:gridCol w="1828800"/>
                <a:gridCol w="822960"/>
                <a:gridCol w="640080"/>
              </a:tblGrid>
              <a:tr h="457200">
                <a:tc>
                  <a:txBody>
                    <a:bodyPr/>
                    <a:lstStyle/>
                    <a:p>
                      <a:pPr>
                        <a:defRPr sz="900" b="1"/>
                      </a:pPr>
                      <a:r>
                        <a:t>No.</a:t>
                      </a:r>
                    </a:p>
                  </a:txBody>
                  <a:tcPr>
                    <a:solidFill>
                      <a:srgbClr val="DFE6EF"/>
                    </a:solidFill>
                  </a:tcPr>
                </a:tc>
                <a:tc>
                  <a:txBody>
                    <a:bodyPr/>
                    <a:lstStyle/>
                    <a:p>
                      <a:pPr>
                        <a:defRPr sz="900" b="1"/>
                      </a:pPr>
                      <a:r>
                        <a:t>区分</a:t>
                      </a:r>
                    </a:p>
                  </a:txBody>
                  <a:tcPr>
                    <a:solidFill>
                      <a:srgbClr val="DFE6EF"/>
                    </a:solidFill>
                  </a:tcPr>
                </a:tc>
                <a:tc>
                  <a:txBody>
                    <a:bodyPr/>
                    <a:lstStyle/>
                    <a:p>
                      <a:pPr>
                        <a:defRPr sz="900" b="1"/>
                      </a:pPr>
                      <a:r>
                        <a:t>指摘内容</a:t>
                      </a:r>
                    </a:p>
                  </a:txBody>
                  <a:tcPr>
                    <a:solidFill>
                      <a:srgbClr val="DFE6EF"/>
                    </a:solidFill>
                  </a:tcPr>
                </a:tc>
                <a:tc>
                  <a:txBody>
                    <a:bodyPr/>
                    <a:lstStyle/>
                    <a:p>
                      <a:pPr>
                        <a:defRPr sz="900" b="1"/>
                      </a:pPr>
                      <a:r>
                        <a:t>重要度</a:t>
                      </a:r>
                    </a:p>
                  </a:txBody>
                  <a:tcPr>
                    <a:solidFill>
                      <a:srgbClr val="DFE6EF"/>
                    </a:solidFill>
                  </a:tcPr>
                </a:tc>
                <a:tc>
                  <a:txBody>
                    <a:bodyPr/>
                    <a:lstStyle/>
                    <a:p>
                      <a:pPr>
                        <a:defRPr sz="900" b="1"/>
                      </a:pPr>
                      <a:r>
                        <a:t>対応方針</a:t>
                      </a:r>
                    </a:p>
                  </a:txBody>
                  <a:tcPr>
                    <a:solidFill>
                      <a:srgbClr val="DFE6EF"/>
                    </a:solidFill>
                  </a:tcPr>
                </a:tc>
                <a:tc>
                  <a:txBody>
                    <a:bodyPr/>
                    <a:lstStyle/>
                    <a:p>
                      <a:pPr>
                        <a:defRPr sz="900" b="1"/>
                      </a:pPr>
                      <a:r>
                        <a:t>担当</a:t>
                      </a:r>
                    </a:p>
                  </a:txBody>
                  <a:tcPr>
                    <a:solidFill>
                      <a:srgbClr val="DFE6EF"/>
                    </a:solidFill>
                  </a:tcPr>
                </a:tc>
                <a:tc>
                  <a:txBody>
                    <a:bodyPr/>
                    <a:lstStyle/>
                    <a:p>
                      <a:pPr>
                        <a:defRPr sz="900" b="1"/>
                      </a:pPr>
                      <a:r>
                        <a:t>状態</a:t>
                      </a:r>
                    </a:p>
                  </a:txBody>
                  <a:tcPr>
                    <a:solidFill>
                      <a:srgbClr val="DFE6EF"/>
                    </a:solidFill>
                  </a:tcPr>
                </a:tc>
              </a:tr>
              <a:tr h="457200">
                <a:tc>
                  <a:txBody>
                    <a:bodyPr/>
                    <a:lstStyle/>
                    <a:p>
                      <a:pPr>
                        <a:defRPr sz="800"/>
                      </a:pPr>
                      <a:r>
                        <a:t>1</a:t>
                      </a:r>
                    </a:p>
                  </a:txBody>
                  <a:tcPr/>
                </a:tc>
                <a:tc>
                  <a:txBody>
                    <a:bodyPr/>
                    <a:lstStyle/>
                    <a:p>
                      <a:pPr>
                        <a:defRPr sz="800"/>
                      </a:pPr>
                      <a:r>
                        <a:t>方針整合性</a:t>
                      </a:r>
                    </a:p>
                  </a:txBody>
                  <a:tcPr/>
                </a:tc>
                <a:tc>
                  <a:txBody>
                    <a:bodyPr/>
                    <a:lstStyle/>
                    <a:p>
                      <a:pPr>
                        <a:defRPr sz="800"/>
                      </a:pPr>
                      <a:r>
                        <a:t>商品別上限額はD-1005に基づき本資料および別紙KZ-TBL-EXPOで管理するが、本文中の説明で『顧客別合算後に一括上限適用』とも読める記載が残っている</a:t>
                      </a:r>
                    </a:p>
                  </a:txBody>
                  <a:tcPr/>
                </a:tc>
                <a:tc>
                  <a:txBody>
                    <a:bodyPr/>
                    <a:lstStyle/>
                    <a:p>
                      <a:pPr>
                        <a:defRPr sz="800"/>
                      </a:pPr>
                      <a:r>
                        <a:t>高</a:t>
                      </a:r>
                    </a:p>
                  </a:txBody>
                  <a:tcPr/>
                </a:tc>
                <a:tc>
                  <a:txBody>
                    <a:bodyPr/>
                    <a:lstStyle/>
                    <a:p>
                      <a:pPr>
                        <a:defRPr sz="800"/>
                      </a:pPr>
                      <a:r>
                        <a:t>顧客別・商品別に集計した後、商品ごとの上限額でキャップする旨に表現を統一</a:t>
                      </a:r>
                    </a:p>
                  </a:txBody>
                  <a:tcPr/>
                </a:tc>
                <a:tc>
                  <a:txBody>
                    <a:bodyPr/>
                    <a:lstStyle/>
                    <a:p>
                      <a:pPr>
                        <a:defRPr sz="800"/>
                      </a:pPr>
                      <a:r>
                        <a:t>佐伯 佳奈</a:t>
                      </a:r>
                    </a:p>
                  </a:txBody>
                  <a:tcPr/>
                </a:tc>
                <a:tc>
                  <a:txBody>
                    <a:bodyPr/>
                    <a:lstStyle/>
                    <a:p>
                      <a:pPr>
                        <a:defRPr sz="800"/>
                      </a:pPr>
                      <a:r>
                        <a:t>対応中</a:t>
                      </a:r>
                    </a:p>
                  </a:txBody>
                  <a:tcPr/>
                </a:tc>
              </a:tr>
              <a:tr h="457200">
                <a:tc>
                  <a:txBody>
                    <a:bodyPr/>
                    <a:lstStyle/>
                    <a:p>
                      <a:pPr>
                        <a:defRPr sz="800"/>
                      </a:pPr>
                      <a:r>
                        <a:t>2</a:t>
                      </a:r>
                    </a:p>
                  </a:txBody>
                  <a:tcPr/>
                </a:tc>
                <a:tc>
                  <a:txBody>
                    <a:bodyPr/>
                    <a:lstStyle/>
                    <a:p>
                      <a:pPr>
                        <a:defRPr sz="800"/>
                      </a:pPr>
                      <a:r>
                        <a:t>設計確認</a:t>
                      </a:r>
                    </a:p>
                  </a:txBody>
                  <a:tcPr/>
                </a:tc>
                <a:tc>
                  <a:txBody>
                    <a:bodyPr/>
                    <a:lstStyle/>
                    <a:p>
                      <a:pPr>
                        <a:defRPr sz="800"/>
                      </a:pPr>
                      <a:r>
                        <a:t>KZ160Bの処理順序について、超過フラグ設定がキャップ適用前の残高判定であることを明記する必要がある</a:t>
                      </a:r>
                    </a:p>
                  </a:txBody>
                  <a:tcPr/>
                </a:tc>
                <a:tc>
                  <a:txBody>
                    <a:bodyPr/>
                    <a:lstStyle/>
                    <a:p>
                      <a:pPr>
                        <a:defRPr sz="800"/>
                      </a:pPr>
                      <a:r>
                        <a:t>高</a:t>
                      </a:r>
                    </a:p>
                  </a:txBody>
                  <a:tcPr/>
                </a:tc>
                <a:tc>
                  <a:txBody>
                    <a:bodyPr/>
                    <a:lstStyle/>
                    <a:p>
                      <a:pPr>
                        <a:defRPr sz="800"/>
                      </a:pPr>
                      <a:r>
                        <a:t>処理フロー図と疑似ロジックに『残高 &gt; 上限額』で超過フラグを立てる条件を追記</a:t>
                      </a:r>
                    </a:p>
                  </a:txBody>
                  <a:tcPr/>
                </a:tc>
                <a:tc>
                  <a:txBody>
                    <a:bodyPr/>
                    <a:lstStyle/>
                    <a:p>
                      <a:pPr>
                        <a:defRPr sz="800"/>
                      </a:pPr>
                      <a:r>
                        <a:t>三浦 健太</a:t>
                      </a:r>
                    </a:p>
                  </a:txBody>
                  <a:tcPr/>
                </a:tc>
                <a:tc>
                  <a:txBody>
                    <a:bodyPr/>
                    <a:lstStyle/>
                    <a:p>
                      <a:pPr>
                        <a:defRPr sz="800"/>
                      </a:pPr>
                      <a:r>
                        <a:t>対応済</a:t>
                      </a:r>
                    </a:p>
                  </a:txBody>
                  <a:tcPr/>
                </a:tc>
              </a:tr>
              <a:tr h="457200">
                <a:tc>
                  <a:txBody>
                    <a:bodyPr/>
                    <a:lstStyle/>
                    <a:p>
                      <a:pPr>
                        <a:defRPr sz="800"/>
                      </a:pPr>
                      <a:r>
                        <a:t>3</a:t>
                      </a:r>
                    </a:p>
                  </a:txBody>
                  <a:tcPr/>
                </a:tc>
                <a:tc>
                  <a:txBody>
                    <a:bodyPr/>
                    <a:lstStyle/>
                    <a:p>
                      <a:pPr>
                        <a:defRPr sz="800"/>
                      </a:pPr>
                      <a:r>
                        <a:t>別紙管理</a:t>
                      </a:r>
                    </a:p>
                  </a:txBody>
                  <a:tcPr/>
                </a:tc>
                <a:tc>
                  <a:txBody>
                    <a:bodyPr/>
                    <a:lstStyle/>
                    <a:p>
                      <a:pPr>
                        <a:defRPr sz="800"/>
                      </a:pPr>
                      <a:r>
                        <a:t>商品区分01、02、03の上限額はKZ-TBL-EXPOに定めるが、別紙改訂時のリスク管理部承認ルートが資料末尾に未記載</a:t>
                      </a:r>
                    </a:p>
                  </a:txBody>
                  <a:tcPr/>
                </a:tc>
                <a:tc>
                  <a:txBody>
                    <a:bodyPr/>
                    <a:lstStyle/>
                    <a:p>
                      <a:pPr>
                        <a:defRPr sz="800"/>
                      </a:pPr>
                      <a:r>
                        <a:t>中</a:t>
                      </a:r>
                    </a:p>
                  </a:txBody>
                  <a:tcPr/>
                </a:tc>
                <a:tc>
                  <a:txBody>
                    <a:bodyPr/>
                    <a:lstStyle/>
                    <a:p>
                      <a:pPr>
                        <a:defRPr sz="800"/>
                      </a:pPr>
                      <a:r>
                        <a:t>別紙改訂時はリスク管理部起案、審査企画部確認、システム管理部承認の流れを追記</a:t>
                      </a:r>
                    </a:p>
                  </a:txBody>
                  <a:tcPr/>
                </a:tc>
                <a:tc>
                  <a:txBody>
                    <a:bodyPr/>
                    <a:lstStyle/>
                    <a:p>
                      <a:pPr>
                        <a:defRPr sz="800"/>
                      </a:pPr>
                      <a:r>
                        <a:t>佐伯 佳奈</a:t>
                      </a:r>
                    </a:p>
                  </a:txBody>
                  <a:tcPr/>
                </a:tc>
                <a:tc>
                  <a:txBody>
                    <a:bodyPr/>
                    <a:lstStyle/>
                    <a:p>
                      <a:pPr>
                        <a:defRPr sz="800">
                          <a:solidFill>
                            <a:srgbClr val="C0392B"/>
                          </a:solidFill>
                        </a:defRPr>
                      </a:pPr>
                      <a:r>
                        <a:t>未対応</a:t>
                      </a:r>
                    </a:p>
                  </a:txBody>
                  <a:tcPr/>
                </a:tc>
              </a:tr>
              <a:tr h="457200">
                <a:tc>
                  <a:txBody>
                    <a:bodyPr/>
                    <a:lstStyle/>
                    <a:p>
                      <a:pPr>
                        <a:defRPr sz="800"/>
                      </a:pPr>
                      <a:r>
                        <a:t>4</a:t>
                      </a:r>
                    </a:p>
                  </a:txBody>
                  <a:tcPr/>
                </a:tc>
                <a:tc>
                  <a:txBody>
                    <a:bodyPr/>
                    <a:lstStyle/>
                    <a:p>
                      <a:pPr>
                        <a:defRPr sz="800"/>
                      </a:pPr>
                      <a:r>
                        <a:t>運用影響</a:t>
                      </a:r>
                    </a:p>
                  </a:txBody>
                  <a:tcPr/>
                </a:tc>
                <a:tc>
                  <a:txBody>
                    <a:bodyPr/>
                    <a:lstStyle/>
                    <a:p>
                      <a:pPr>
                        <a:defRPr sz="800"/>
                      </a:pPr>
                      <a:r>
                        <a:t>商品別キャップ後のエクスポージャを月次モニタリングに利用する際、超過フラグ件数の確認観点が運用チェックリストに未反映</a:t>
                      </a:r>
                    </a:p>
                  </a:txBody>
                  <a:tcPr/>
                </a:tc>
                <a:tc>
                  <a:txBody>
                    <a:bodyPr/>
                    <a:lstStyle/>
                    <a:p>
                      <a:pPr>
                        <a:defRPr sz="800"/>
                      </a:pPr>
                      <a:r>
                        <a:t>中</a:t>
                      </a:r>
                    </a:p>
                  </a:txBody>
                  <a:tcPr/>
                </a:tc>
                <a:tc>
                  <a:txBody>
                    <a:bodyPr/>
                    <a:lstStyle/>
                    <a:p>
                      <a:pPr>
                        <a:defRPr sz="800"/>
                      </a:pPr>
                      <a:r>
                        <a:t>月次確認項目に商品区分別の超過フラグ件数と前月差異確認を追加</a:t>
                      </a:r>
                    </a:p>
                  </a:txBody>
                  <a:tcPr/>
                </a:tc>
                <a:tc>
                  <a:txBody>
                    <a:bodyPr/>
                    <a:lstStyle/>
                    <a:p>
                      <a:pPr>
                        <a:defRPr sz="800"/>
                      </a:pPr>
                      <a:r>
                        <a:t>藤井 直人</a:t>
                      </a:r>
                    </a:p>
                  </a:txBody>
                  <a:tcPr/>
                </a:tc>
                <a:tc>
                  <a:txBody>
                    <a:bodyPr/>
                    <a:lstStyle/>
                    <a:p>
                      <a:pPr>
                        <a:defRPr sz="800"/>
                      </a:pPr>
                      <a:r>
                        <a:t>対応中</a:t>
                      </a:r>
                    </a:p>
                  </a:txBody>
                  <a:tcPr/>
                </a:tc>
              </a:tr>
            </a:tbl>
          </a:graphicData>
        </a:graphic>
      </p:graphicFrame>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v1.1 (承認前)    社外秘    4 /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