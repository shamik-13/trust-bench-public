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6304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C5AA0"/>
                </a:solidFill>
              </a:defRPr>
            </a:pPr>
            <a:r>
              <a:t>オーソリ・与信判定基盤 アーキテクチャ概要レビュー資料</a:t>
            </a:r>
          </a:p>
          <a:p>
            <a:pPr>
              <a:defRPr sz="1600"/>
            </a:pPr>
            <a:r>
              <a:t>オンライン受付から与信判定・応答連携までの構成確認 (MC-2409-18)</a:t>
            </a:r>
          </a:p>
          <a:p>
            <a:pPr>
              <a:defRPr sz="1200"/>
            </a:pPr>
            <a:r>
              <a:t>みらいカード オーソリ・与信判定基盤</a:t>
            </a:r>
          </a:p>
          <a:p>
            <a:pPr>
              <a:defRPr sz="1200"/>
            </a:pPr>
            <a:r>
              <a:t>アーキテクチャ概要レビュー</a:t>
            </a:r>
          </a:p>
          <a:p>
            <a:pPr>
              <a:defRPr sz="1200"/>
            </a:pPr>
            <a:r>
              <a:t>発表: 佐伯 由紀 (MC-042)</a:t>
            </a:r>
          </a:p>
          <a:p>
            <a:pPr>
              <a:defRPr sz="1200"/>
            </a:pPr>
            <a:r>
              <a:t>令和6年9月18日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4944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0392B"/>
                </a:solidFill>
              </a:defRPr>
            </a:pPr>
            <a:r>
              <a:t>社外秘 / v1.2 (レビュー版)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92240"/>
            <a:ext cx="8595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88888"/>
                </a:solidFill>
              </a:defRPr>
            </a:pPr>
            <a:r>
              <a:t>v1.2 (レビュー版)    社外秘    1 /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C5AA0"/>
                </a:solidFill>
              </a:defRPr>
            </a:pPr>
            <a:r>
              <a:t>アジェンダ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・1. レビュー目的・観点</a:t>
            </a:r>
          </a:p>
          <a:p>
            <a:pPr>
              <a:defRPr sz="1600"/>
            </a:pPr>
            <a:r>
              <a:t>・2. オンライン受付から応答返却までの処理概要</a:t>
            </a:r>
          </a:p>
          <a:p>
            <a:pPr>
              <a:defRPr sz="1600"/>
            </a:pPr>
            <a:r>
              <a:t>・3. 与信判定基盤の主要コンポーネントとデータ連携</a:t>
            </a:r>
          </a:p>
          <a:p>
            <a:pPr>
              <a:defRPr sz="1600"/>
            </a:pPr>
            <a:r>
              <a:t>・4. 指摘事項一覧</a:t>
            </a:r>
          </a:p>
          <a:p>
            <a:pPr>
              <a:defRPr sz="1600"/>
            </a:pPr>
            <a:r>
              <a:t>・5. 残課題・次のステップ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92240"/>
            <a:ext cx="8595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88888"/>
                </a:solidFill>
              </a:defRPr>
            </a:pPr>
            <a:r>
              <a:t>v1.2 (レビュー版)    社外秘    2 /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C5AA0"/>
                </a:solidFill>
              </a:defRPr>
            </a:pPr>
            <a:r>
              <a:t>設計概要 — 処理フロー (図1)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828800"/>
            <a:ext cx="1828800" cy="822960"/>
          </a:xfrm>
          <a:prstGeom prst="rect">
            <a:avLst/>
          </a:prstGeom>
          <a:solidFill>
            <a:srgbClr val="DFE6EF"/>
          </a:solidFill>
          <a:ln>
            <a:solidFill>
              <a:srgbClr val="2C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CA1040R オンライン受付</a:t>
            </a:r>
          </a:p>
        </p:txBody>
      </p:sp>
      <p:sp>
        <p:nvSpPr>
          <p:cNvPr id="4" name="Rectangle 3"/>
          <p:cNvSpPr/>
          <p:nvPr/>
        </p:nvSpPr>
        <p:spPr>
          <a:xfrm>
            <a:off x="2514600" y="1828800"/>
            <a:ext cx="1828800" cy="822960"/>
          </a:xfrm>
          <a:prstGeom prst="rect">
            <a:avLst/>
          </a:prstGeom>
          <a:solidFill>
            <a:srgbClr val="DFE6EF"/>
          </a:solidFill>
          <a:ln>
            <a:solidFill>
              <a:srgbClr val="2C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AuthService 与信判定</a:t>
            </a:r>
          </a:p>
        </p:txBody>
      </p:sp>
      <p:sp>
        <p:nvSpPr>
          <p:cNvPr id="5" name="Rectangle 4"/>
          <p:cNvSpPr/>
          <p:nvPr/>
        </p:nvSpPr>
        <p:spPr>
          <a:xfrm>
            <a:off x="4663440" y="1828800"/>
            <a:ext cx="1828800" cy="822960"/>
          </a:xfrm>
          <a:prstGeom prst="rect">
            <a:avLst/>
          </a:prstGeom>
          <a:solidFill>
            <a:srgbClr val="DFE6EF"/>
          </a:solidFill>
          <a:ln>
            <a:solidFill>
              <a:srgbClr val="2C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AuthHoldStore ホールド情報アクセス</a:t>
            </a:r>
          </a:p>
        </p:txBody>
      </p:sp>
      <p:sp>
        <p:nvSpPr>
          <p:cNvPr id="6" name="Rectangle 5"/>
          <p:cNvSpPr/>
          <p:nvPr/>
        </p:nvSpPr>
        <p:spPr>
          <a:xfrm>
            <a:off x="6812279" y="1828800"/>
            <a:ext cx="1828800" cy="822960"/>
          </a:xfrm>
          <a:prstGeom prst="rect">
            <a:avLst/>
          </a:prstGeom>
          <a:solidFill>
            <a:srgbClr val="DFE6EF"/>
          </a:solidFill>
          <a:ln>
            <a:solidFill>
              <a:srgbClr val="2C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CDCARDF カード属性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08960"/>
            <a:ext cx="8229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/>
            </a:pPr>
            <a:r>
              <a:t>・CA1040R は加盟店ネットワークからのオーソリ電文を受付し、必要項目を正規化</a:t>
            </a:r>
          </a:p>
          <a:p>
            <a:pPr>
              <a:defRPr sz="1300"/>
            </a:pPr>
            <a:r>
              <a:t>・AuthService はカード状態、残高、利用可能枠、ホールド情報を参照し、承認・否認の判定を実施</a:t>
            </a:r>
          </a:p>
          <a:p>
            <a:pPr>
              <a:defRPr sz="1300"/>
            </a:pPr>
            <a:r>
              <a:t>・ホールド情報は AuthHoldStore 経由で参照・更新し、詳細な判定条件は実装に従う</a:t>
            </a:r>
          </a:p>
          <a:p>
            <a:pPr>
              <a:defRPr sz="1300"/>
            </a:pPr>
            <a:r>
              <a:t>・応答結果は CDARSPF に記録し、受付側へ所定フォーマットで返却する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92240"/>
            <a:ext cx="8595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88888"/>
                </a:solidFill>
              </a:defRPr>
            </a:pPr>
            <a:r>
              <a:t>v1.2 (レビュー版)    社外秘    3 /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C5AA0"/>
                </a:solidFill>
              </a:defRPr>
            </a:pPr>
            <a:r>
              <a:t>指摘事項一覧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914400"/>
          <a:ext cx="85953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822960"/>
                <a:gridCol w="3291840"/>
                <a:gridCol w="731520"/>
                <a:gridCol w="1828800"/>
                <a:gridCol w="822960"/>
                <a:gridCol w="640080"/>
              </a:tblGrid>
              <a:tr h="457200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DFE6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区分</a:t>
                      </a:r>
                    </a:p>
                  </a:txBody>
                  <a:tcPr>
                    <a:solidFill>
                      <a:srgbClr val="DFE6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指摘内容</a:t>
                      </a:r>
                    </a:p>
                  </a:txBody>
                  <a:tcPr>
                    <a:solidFill>
                      <a:srgbClr val="DFE6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重要度</a:t>
                      </a:r>
                    </a:p>
                  </a:txBody>
                  <a:tcPr>
                    <a:solidFill>
                      <a:srgbClr val="DFE6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対応方針</a:t>
                      </a:r>
                    </a:p>
                  </a:txBody>
                  <a:tcPr>
                    <a:solidFill>
                      <a:srgbClr val="DFE6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担当</a:t>
                      </a:r>
                    </a:p>
                  </a:txBody>
                  <a:tcPr>
                    <a:solidFill>
                      <a:srgbClr val="DFE6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状態</a:t>
                      </a:r>
                    </a:p>
                  </a:txBody>
                  <a:tcPr>
                    <a:solidFill>
                      <a:srgbClr val="DFE6E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整合性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CA1040R から AuthService へ連携する取引区分の説明が、電文仕様書の表記と一部一致していない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用語を電文仕様書に合わせ、変換有無を注記する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佐伯 由紀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対応中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非機能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ピーク時の同時接続数は記載されているが、CDARSPF 書込遅延時のタイムアウト扱いがレビュー資料上で不明確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運用設計書のタイムアウト値とリトライ方針を参照追記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中村 圭介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C0392B"/>
                          </a:solidFill>
                        </a:defRPr>
                      </a:pPr>
                      <a:r>
                        <a:t>未対応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保守性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AuthService と AuthHoldStore の責務境界は概ね妥当だが、ホールド参照時の業務条件は資料上では抽象化されている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本資料では非操作的な記載に留め、詳細は実装に従う旨を明記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三浦 智子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対応済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運用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CDAUTHF と CDARSPF の突合確認手順が障害後確認に限定され、日次監視観点の記載が不足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日次件数差異チェックとアラート連絡先を運用章へ追記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松田 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C0392B"/>
                          </a:solidFill>
                        </a:defRPr>
                      </a:pPr>
                      <a:r>
                        <a:t>未対応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274320" y="6492240"/>
            <a:ext cx="8595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88888"/>
                </a:solidFill>
              </a:defRPr>
            </a:pPr>
            <a:r>
              <a:t>v1.2 (レビュー版)    社外秘    4 /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